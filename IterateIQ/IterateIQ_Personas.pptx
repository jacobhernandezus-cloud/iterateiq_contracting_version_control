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70"/>
    <p:restoredTop sz="94610"/>
  </p:normalViewPr>
  <p:slideViewPr>
    <p:cSldViewPr snapToGrid="0" snapToObjects="1">
      <p:cViewPr varScale="1">
        <p:scale>
          <a:sx n="88" d="100"/>
          <a:sy n="88" d="100"/>
        </p:scale>
        <p:origin x="208" y="10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2547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8"/>
        </a:solidFill>
        <a:effectLst/>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F8C00"/>
          </a:solidFill>
          <a:ln w="12700">
            <a:solidFill>
              <a:srgbClr val="FF8C00"/>
            </a:solidFill>
            <a:prstDash val="solid"/>
          </a:ln>
        </p:spPr>
        <p:txBody>
          <a:bodyPr/>
          <a:lstStyle/>
          <a:p>
            <a:endParaRPr lang="en-US"/>
          </a:p>
        </p:txBody>
      </p:sp>
      <p:sp>
        <p:nvSpPr>
          <p:cNvPr id="3" name="Text 1"/>
          <p:cNvSpPr/>
          <p:nvPr/>
        </p:nvSpPr>
        <p:spPr>
          <a:xfrm>
            <a:off x="914400" y="640080"/>
            <a:ext cx="2743200" cy="1463040"/>
          </a:xfrm>
          <a:prstGeom prst="rect">
            <a:avLst/>
          </a:prstGeom>
          <a:noFill/>
          <a:ln/>
        </p:spPr>
        <p:txBody>
          <a:bodyPr wrap="square" lIns="0" tIns="0" rIns="0" bIns="0" rtlCol="0" anchor="ctr"/>
          <a:lstStyle/>
          <a:p>
            <a:pPr marL="0" indent="0">
              <a:buNone/>
            </a:pPr>
            <a:r>
              <a:rPr lang="en-US" sz="9600" b="1" dirty="0">
                <a:solidFill>
                  <a:srgbClr val="FF8C00"/>
                </a:solidFill>
                <a:latin typeface="Georgia" pitchFamily="34" charset="0"/>
                <a:ea typeface="Georgia" pitchFamily="34" charset="-122"/>
                <a:cs typeface="Georgia" pitchFamily="34" charset="-120"/>
              </a:rPr>
              <a:t>H9</a:t>
            </a:r>
            <a:endParaRPr lang="en-US" sz="9600" dirty="0"/>
          </a:p>
        </p:txBody>
      </p:sp>
      <p:sp>
        <p:nvSpPr>
          <p:cNvPr id="4" name="Text 2"/>
          <p:cNvSpPr/>
          <p:nvPr/>
        </p:nvSpPr>
        <p:spPr>
          <a:xfrm>
            <a:off x="914400" y="2057400"/>
            <a:ext cx="5486400" cy="457200"/>
          </a:xfrm>
          <a:prstGeom prst="rect">
            <a:avLst/>
          </a:prstGeom>
          <a:noFill/>
          <a:ln/>
        </p:spPr>
        <p:txBody>
          <a:bodyPr wrap="square" lIns="0" tIns="0" rIns="0" bIns="0" rtlCol="0" anchor="ctr"/>
          <a:lstStyle/>
          <a:p>
            <a:pPr marL="0" indent="0">
              <a:buNone/>
            </a:pPr>
            <a:r>
              <a:rPr lang="en-US" sz="1800" b="1" kern="0" spc="1200" dirty="0">
                <a:solidFill>
                  <a:srgbClr val="FAF8F4"/>
                </a:solidFill>
                <a:latin typeface="Calibri" pitchFamily="34" charset="0"/>
                <a:ea typeface="Calibri" pitchFamily="34" charset="-122"/>
                <a:cs typeface="Calibri" pitchFamily="34" charset="-120"/>
              </a:rPr>
              <a:t>PARTNERS</a:t>
            </a:r>
            <a:endParaRPr lang="en-US" sz="1800" dirty="0"/>
          </a:p>
        </p:txBody>
      </p:sp>
      <p:sp>
        <p:nvSpPr>
          <p:cNvPr id="5" name="Text 3"/>
          <p:cNvSpPr/>
          <p:nvPr/>
        </p:nvSpPr>
        <p:spPr>
          <a:xfrm>
            <a:off x="914400" y="2926080"/>
            <a:ext cx="7315200" cy="274320"/>
          </a:xfrm>
          <a:prstGeom prst="rect">
            <a:avLst/>
          </a:prstGeom>
          <a:noFill/>
          <a:ln/>
        </p:spPr>
        <p:txBody>
          <a:bodyPr wrap="square" lIns="0" tIns="0" rIns="0" bIns="0" rtlCol="0" anchor="ctr"/>
          <a:lstStyle/>
          <a:p>
            <a:pPr marL="0" indent="0">
              <a:buNone/>
            </a:pPr>
            <a:r>
              <a:rPr lang="en-US" sz="1100" b="1" kern="0" spc="600" dirty="0">
                <a:solidFill>
                  <a:srgbClr val="FFB347"/>
                </a:solidFill>
                <a:latin typeface="Calibri" pitchFamily="34" charset="0"/>
                <a:ea typeface="Calibri" pitchFamily="34" charset="-122"/>
                <a:cs typeface="Calibri" pitchFamily="34" charset="-120"/>
              </a:rPr>
              <a:t>UX PERSONA RESEARCH  •  MAY 2026</a:t>
            </a:r>
            <a:endParaRPr lang="en-US" sz="1100" dirty="0"/>
          </a:p>
        </p:txBody>
      </p:sp>
      <p:sp>
        <p:nvSpPr>
          <p:cNvPr id="6" name="Text 4"/>
          <p:cNvSpPr/>
          <p:nvPr/>
        </p:nvSpPr>
        <p:spPr>
          <a:xfrm>
            <a:off x="914400" y="3291840"/>
            <a:ext cx="10058400" cy="1463040"/>
          </a:xfrm>
          <a:prstGeom prst="rect">
            <a:avLst/>
          </a:prstGeom>
          <a:noFill/>
          <a:ln/>
        </p:spPr>
        <p:txBody>
          <a:bodyPr wrap="square" lIns="0" tIns="0" rIns="0" bIns="0" rtlCol="0" anchor="ctr"/>
          <a:lstStyle/>
          <a:p>
            <a:pPr marL="0" indent="0">
              <a:buNone/>
            </a:pPr>
            <a:r>
              <a:rPr lang="en-US" sz="3800" b="1" dirty="0">
                <a:solidFill>
                  <a:srgbClr val="FAF8F4"/>
                </a:solidFill>
                <a:latin typeface="Georgia" pitchFamily="34" charset="0"/>
                <a:ea typeface="Georgia" pitchFamily="34" charset="-122"/>
                <a:cs typeface="Georgia" pitchFamily="34" charset="-120"/>
              </a:rPr>
              <a:t>Building tools that work the way contractors actually work.</a:t>
            </a:r>
            <a:endParaRPr lang="en-US" sz="3800" dirty="0"/>
          </a:p>
        </p:txBody>
      </p:sp>
      <p:sp>
        <p:nvSpPr>
          <p:cNvPr id="7" name="Shape 5"/>
          <p:cNvSpPr/>
          <p:nvPr/>
        </p:nvSpPr>
        <p:spPr>
          <a:xfrm>
            <a:off x="914400" y="5029200"/>
            <a:ext cx="54864" cy="1188720"/>
          </a:xfrm>
          <a:prstGeom prst="rect">
            <a:avLst/>
          </a:prstGeom>
          <a:solidFill>
            <a:srgbClr val="FF8C00"/>
          </a:solidFill>
          <a:ln w="12700">
            <a:solidFill>
              <a:srgbClr val="FF8C00"/>
            </a:solidFill>
            <a:prstDash val="solid"/>
          </a:ln>
        </p:spPr>
        <p:txBody>
          <a:bodyPr/>
          <a:lstStyle/>
          <a:p>
            <a:endParaRPr lang="en-US"/>
          </a:p>
        </p:txBody>
      </p:sp>
      <p:sp>
        <p:nvSpPr>
          <p:cNvPr id="8" name="Text 6"/>
          <p:cNvSpPr/>
          <p:nvPr/>
        </p:nvSpPr>
        <p:spPr>
          <a:xfrm>
            <a:off x="1143000" y="5029200"/>
            <a:ext cx="5486400" cy="274320"/>
          </a:xfrm>
          <a:prstGeom prst="rect">
            <a:avLst/>
          </a:prstGeom>
          <a:noFill/>
          <a:ln/>
        </p:spPr>
        <p:txBody>
          <a:bodyPr wrap="square" lIns="0" tIns="0" rIns="0" bIns="0" rtlCol="0" anchor="ctr"/>
          <a:lstStyle/>
          <a:p>
            <a:pPr marL="0" indent="0">
              <a:buNone/>
            </a:pPr>
            <a:r>
              <a:rPr lang="en-US" sz="1000" b="1" kern="0" spc="600" dirty="0">
                <a:solidFill>
                  <a:srgbClr val="FF8C00"/>
                </a:solidFill>
                <a:latin typeface="Calibri" pitchFamily="34" charset="0"/>
                <a:ea typeface="Calibri" pitchFamily="34" charset="-122"/>
                <a:cs typeface="Calibri" pitchFamily="34" charset="-120"/>
              </a:rPr>
              <a:t>OUR MISSION</a:t>
            </a:r>
            <a:endParaRPr lang="en-US" sz="1000" dirty="0"/>
          </a:p>
        </p:txBody>
      </p:sp>
      <p:sp>
        <p:nvSpPr>
          <p:cNvPr id="9" name="Text 7"/>
          <p:cNvSpPr/>
          <p:nvPr/>
        </p:nvSpPr>
        <p:spPr>
          <a:xfrm>
            <a:off x="1143000" y="5349240"/>
            <a:ext cx="9601200" cy="1188720"/>
          </a:xfrm>
          <a:prstGeom prst="rect">
            <a:avLst/>
          </a:prstGeom>
          <a:noFill/>
          <a:ln/>
        </p:spPr>
        <p:txBody>
          <a:bodyPr wrap="square" lIns="0" tIns="0" rIns="0" bIns="0" rtlCol="0" anchor="ctr"/>
          <a:lstStyle/>
          <a:p>
            <a:pPr marL="0" indent="0">
              <a:buNone/>
            </a:pPr>
            <a:r>
              <a:rPr lang="en-US" sz="1400" dirty="0">
                <a:solidFill>
                  <a:srgbClr val="FAF8F4"/>
                </a:solidFill>
                <a:latin typeface="Calibri" pitchFamily="34" charset="0"/>
                <a:ea typeface="Calibri" pitchFamily="34" charset="-122"/>
                <a:cs typeface="Calibri" pitchFamily="34" charset="-120"/>
              </a:rPr>
              <a:t>H9 Partners builds practical software for the working professional. We design tools that respect the complexity of real contract work — the scope changes, the messy timelines, the client conversations — and turn that complexity into clarity.</a:t>
            </a:r>
            <a:endParaRPr lang="en-US" sz="1400" dirty="0"/>
          </a:p>
        </p:txBody>
      </p:sp>
      <p:sp>
        <p:nvSpPr>
          <p:cNvPr id="10" name="Text 8"/>
          <p:cNvSpPr/>
          <p:nvPr/>
        </p:nvSpPr>
        <p:spPr>
          <a:xfrm>
            <a:off x="10820095" y="6400800"/>
            <a:ext cx="914400" cy="274320"/>
          </a:xfrm>
          <a:prstGeom prst="rect">
            <a:avLst/>
          </a:prstGeom>
          <a:noFill/>
          <a:ln/>
        </p:spPr>
        <p:txBody>
          <a:bodyPr wrap="square" lIns="0" tIns="0" rIns="0" bIns="0" rtlCol="0" anchor="ctr"/>
          <a:lstStyle/>
          <a:p>
            <a:pPr marL="0" indent="0" algn="r">
              <a:buNone/>
            </a:pPr>
            <a:r>
              <a:rPr lang="en-US" sz="1000" b="1" dirty="0">
                <a:solidFill>
                  <a:srgbClr val="FF8C00"/>
                </a:solidFill>
                <a:latin typeface="Calibri" pitchFamily="34" charset="0"/>
                <a:ea typeface="Calibri" pitchFamily="34" charset="-122"/>
                <a:cs typeface="Calibri" pitchFamily="34" charset="-120"/>
              </a:rPr>
              <a:t>01 / 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11323015" y="411480"/>
            <a:ext cx="457200" cy="457200"/>
          </a:xfrm>
          <a:prstGeom prst="rect">
            <a:avLst/>
          </a:prstGeom>
          <a:solidFill>
            <a:srgbClr val="FF8C00"/>
          </a:solidFill>
          <a:ln w="12700">
            <a:solidFill>
              <a:srgbClr val="FF8C00"/>
            </a:solidFill>
            <a:prstDash val="solid"/>
          </a:ln>
        </p:spPr>
        <p:txBody>
          <a:bodyPr/>
          <a:lstStyle/>
          <a:p>
            <a:endParaRPr lang="en-US"/>
          </a:p>
        </p:txBody>
      </p:sp>
      <p:sp>
        <p:nvSpPr>
          <p:cNvPr id="3" name="Text 1"/>
          <p:cNvSpPr/>
          <p:nvPr/>
        </p:nvSpPr>
        <p:spPr>
          <a:xfrm>
            <a:off x="11323015" y="411480"/>
            <a:ext cx="457200" cy="457200"/>
          </a:xfrm>
          <a:prstGeom prst="rect">
            <a:avLst/>
          </a:prstGeom>
          <a:noFill/>
          <a:ln/>
        </p:spPr>
        <p:txBody>
          <a:bodyPr wrap="square" lIns="0" tIns="0" rIns="0" bIns="0" rtlCol="0" anchor="ctr"/>
          <a:lstStyle/>
          <a:p>
            <a:pPr marL="0" indent="0" algn="ctr">
              <a:buNone/>
            </a:pPr>
            <a:r>
              <a:rPr lang="en-US" sz="1600" b="1" dirty="0">
                <a:solidFill>
                  <a:srgbClr val="142338"/>
                </a:solidFill>
                <a:latin typeface="Georgia" pitchFamily="34" charset="0"/>
                <a:ea typeface="Georgia" pitchFamily="34" charset="-122"/>
                <a:cs typeface="Georgia" pitchFamily="34" charset="-120"/>
              </a:rPr>
              <a:t>H9</a:t>
            </a:r>
            <a:endParaRPr lang="en-US" sz="1600" dirty="0"/>
          </a:p>
        </p:txBody>
      </p:sp>
      <p:sp>
        <p:nvSpPr>
          <p:cNvPr id="4" name="Text 2"/>
          <p:cNvSpPr/>
          <p:nvPr/>
        </p:nvSpPr>
        <p:spPr>
          <a:xfrm>
            <a:off x="640080" y="502920"/>
            <a:ext cx="4572000" cy="274320"/>
          </a:xfrm>
          <a:prstGeom prst="rect">
            <a:avLst/>
          </a:prstGeom>
          <a:noFill/>
          <a:ln/>
        </p:spPr>
        <p:txBody>
          <a:bodyPr wrap="square" lIns="0" tIns="0" rIns="0" bIns="0" rtlCol="0" anchor="ctr"/>
          <a:lstStyle/>
          <a:p>
            <a:pPr marL="0" indent="0">
              <a:buNone/>
            </a:pPr>
            <a:r>
              <a:rPr lang="en-US" sz="1100" b="1" kern="0" spc="600" dirty="0">
                <a:solidFill>
                  <a:srgbClr val="FF8C00"/>
                </a:solidFill>
                <a:latin typeface="Calibri" pitchFamily="34" charset="0"/>
                <a:ea typeface="Calibri" pitchFamily="34" charset="-122"/>
                <a:cs typeface="Calibri" pitchFamily="34" charset="-120"/>
              </a:rPr>
              <a:t>CHAPTER ONE</a:t>
            </a:r>
            <a:endParaRPr lang="en-US" sz="1100" dirty="0"/>
          </a:p>
        </p:txBody>
      </p:sp>
      <p:sp>
        <p:nvSpPr>
          <p:cNvPr id="5" name="Text 3"/>
          <p:cNvSpPr/>
          <p:nvPr/>
        </p:nvSpPr>
        <p:spPr>
          <a:xfrm>
            <a:off x="640080" y="868680"/>
            <a:ext cx="10515600" cy="1371600"/>
          </a:xfrm>
          <a:prstGeom prst="rect">
            <a:avLst/>
          </a:prstGeom>
          <a:noFill/>
          <a:ln/>
        </p:spPr>
        <p:txBody>
          <a:bodyPr wrap="square" lIns="0" tIns="0" rIns="0" bIns="0" rtlCol="0" anchor="ctr"/>
          <a:lstStyle/>
          <a:p>
            <a:pPr marL="0" indent="0">
              <a:buNone/>
            </a:pPr>
            <a:r>
              <a:rPr lang="en-US" sz="3600" b="1" dirty="0">
                <a:solidFill>
                  <a:srgbClr val="142338"/>
                </a:solidFill>
                <a:latin typeface="Georgia" pitchFamily="34" charset="0"/>
                <a:ea typeface="Georgia" pitchFamily="34" charset="-122"/>
                <a:cs typeface="Georgia" pitchFamily="34" charset="-120"/>
              </a:rPr>
              <a:t>Researching the people behind the platform.</a:t>
            </a:r>
            <a:endParaRPr lang="en-US" sz="3600" dirty="0"/>
          </a:p>
        </p:txBody>
      </p:sp>
      <p:sp>
        <p:nvSpPr>
          <p:cNvPr id="6" name="Shape 4"/>
          <p:cNvSpPr/>
          <p:nvPr/>
        </p:nvSpPr>
        <p:spPr>
          <a:xfrm>
            <a:off x="640080" y="2331720"/>
            <a:ext cx="1097280" cy="36576"/>
          </a:xfrm>
          <a:prstGeom prst="rect">
            <a:avLst/>
          </a:prstGeom>
          <a:solidFill>
            <a:srgbClr val="FF8C00"/>
          </a:solidFill>
          <a:ln w="12700">
            <a:solidFill>
              <a:srgbClr val="FF8C00"/>
            </a:solidFill>
            <a:prstDash val="solid"/>
          </a:ln>
        </p:spPr>
        <p:txBody>
          <a:bodyPr/>
          <a:lstStyle/>
          <a:p>
            <a:endParaRPr lang="en-US"/>
          </a:p>
        </p:txBody>
      </p:sp>
      <p:sp>
        <p:nvSpPr>
          <p:cNvPr id="7" name="Text 5"/>
          <p:cNvSpPr/>
          <p:nvPr/>
        </p:nvSpPr>
        <p:spPr>
          <a:xfrm>
            <a:off x="640080" y="2606040"/>
            <a:ext cx="10515600" cy="91440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Before we shipped a single new feature into IterateIQ, we asked a question every product team should ask first: who actually uses this — and where is it failing them?</a:t>
            </a:r>
            <a:endParaRPr lang="en-US" sz="1600" dirty="0"/>
          </a:p>
        </p:txBody>
      </p:sp>
      <p:sp>
        <p:nvSpPr>
          <p:cNvPr id="8" name="Text 6"/>
          <p:cNvSpPr/>
          <p:nvPr/>
        </p:nvSpPr>
        <p:spPr>
          <a:xfrm>
            <a:off x="640080" y="3657600"/>
            <a:ext cx="10515600" cy="1463040"/>
          </a:xfrm>
          <a:prstGeom prst="rect">
            <a:avLst/>
          </a:prstGeom>
          <a:noFill/>
          <a:ln/>
        </p:spPr>
        <p:txBody>
          <a:bodyPr wrap="square" lIns="0" tIns="0" rIns="0" bIns="0" rtlCol="0" anchor="ctr"/>
          <a:lstStyle/>
          <a:p>
            <a:pPr marL="0" indent="0">
              <a:buNone/>
            </a:pPr>
            <a:r>
              <a:rPr lang="en-US" sz="1400" dirty="0">
                <a:solidFill>
                  <a:srgbClr val="6B6B6B"/>
                </a:solidFill>
                <a:latin typeface="Calibri" pitchFamily="34" charset="0"/>
                <a:ea typeface="Calibri" pitchFamily="34" charset="-122"/>
                <a:cs typeface="Calibri" pitchFamily="34" charset="-120"/>
              </a:rPr>
              <a:t>We focused on H9's two core target audiences — the freelancers doing the work, and the project owners overseeing it. Each persona below represents a real pattern of behavior we observed in their day-to-day, and the pain points they'd struggle with regardless of what tool they're using today.</a:t>
            </a:r>
            <a:endParaRPr lang="en-US" sz="1400" dirty="0"/>
          </a:p>
        </p:txBody>
      </p:sp>
      <p:sp>
        <p:nvSpPr>
          <p:cNvPr id="9" name="Shape 7"/>
          <p:cNvSpPr/>
          <p:nvPr/>
        </p:nvSpPr>
        <p:spPr>
          <a:xfrm>
            <a:off x="640080" y="5486400"/>
            <a:ext cx="2194560" cy="457200"/>
          </a:xfrm>
          <a:prstGeom prst="roundRect">
            <a:avLst>
              <a:gd name="adj" fmla="val 16000"/>
            </a:avLst>
          </a:prstGeom>
          <a:solidFill>
            <a:srgbClr val="142338"/>
          </a:solidFill>
          <a:ln w="12700">
            <a:solidFill>
              <a:srgbClr val="142338"/>
            </a:solidFill>
            <a:prstDash val="solid"/>
          </a:ln>
        </p:spPr>
        <p:txBody>
          <a:bodyPr/>
          <a:lstStyle/>
          <a:p>
            <a:endParaRPr lang="en-US"/>
          </a:p>
        </p:txBody>
      </p:sp>
      <p:sp>
        <p:nvSpPr>
          <p:cNvPr id="10" name="Text 8"/>
          <p:cNvSpPr/>
          <p:nvPr/>
        </p:nvSpPr>
        <p:spPr>
          <a:xfrm>
            <a:off x="640080" y="5486400"/>
            <a:ext cx="2194560" cy="457200"/>
          </a:xfrm>
          <a:prstGeom prst="rect">
            <a:avLst/>
          </a:prstGeom>
          <a:noFill/>
          <a:ln/>
        </p:spPr>
        <p:txBody>
          <a:bodyPr wrap="square" lIns="0" tIns="0" rIns="0" bIns="0" rtlCol="0" anchor="ctr"/>
          <a:lstStyle/>
          <a:p>
            <a:pPr marL="0" indent="0" algn="ctr">
              <a:buNone/>
            </a:pPr>
            <a:r>
              <a:rPr lang="en-US" sz="1000" b="1" dirty="0">
                <a:solidFill>
                  <a:srgbClr val="FAF8F4"/>
                </a:solidFill>
                <a:latin typeface="Calibri" pitchFamily="34" charset="0"/>
                <a:ea typeface="Calibri" pitchFamily="34" charset="-122"/>
                <a:cs typeface="Calibri" pitchFamily="34" charset="-120"/>
              </a:rPr>
              <a:t>PRODUCT AUDIT</a:t>
            </a:r>
            <a:endParaRPr lang="en-US" sz="1000" dirty="0"/>
          </a:p>
        </p:txBody>
      </p:sp>
      <p:sp>
        <p:nvSpPr>
          <p:cNvPr id="11" name="Shape 9"/>
          <p:cNvSpPr/>
          <p:nvPr/>
        </p:nvSpPr>
        <p:spPr>
          <a:xfrm>
            <a:off x="3017520" y="5486400"/>
            <a:ext cx="2194560" cy="457200"/>
          </a:xfrm>
          <a:prstGeom prst="roundRect">
            <a:avLst>
              <a:gd name="adj" fmla="val 16000"/>
            </a:avLst>
          </a:prstGeom>
          <a:solidFill>
            <a:srgbClr val="142338"/>
          </a:solidFill>
          <a:ln w="12700">
            <a:solidFill>
              <a:srgbClr val="142338"/>
            </a:solidFill>
            <a:prstDash val="solid"/>
          </a:ln>
        </p:spPr>
        <p:txBody>
          <a:bodyPr/>
          <a:lstStyle/>
          <a:p>
            <a:endParaRPr lang="en-US"/>
          </a:p>
        </p:txBody>
      </p:sp>
      <p:sp>
        <p:nvSpPr>
          <p:cNvPr id="12" name="Text 10"/>
          <p:cNvSpPr/>
          <p:nvPr/>
        </p:nvSpPr>
        <p:spPr>
          <a:xfrm>
            <a:off x="3017520" y="5486400"/>
            <a:ext cx="2194560" cy="457200"/>
          </a:xfrm>
          <a:prstGeom prst="rect">
            <a:avLst/>
          </a:prstGeom>
          <a:noFill/>
          <a:ln/>
        </p:spPr>
        <p:txBody>
          <a:bodyPr wrap="square" lIns="0" tIns="0" rIns="0" bIns="0" rtlCol="0" anchor="ctr"/>
          <a:lstStyle/>
          <a:p>
            <a:pPr marL="0" indent="0" algn="ctr">
              <a:buNone/>
            </a:pPr>
            <a:r>
              <a:rPr lang="en-US" sz="1000" b="1" dirty="0">
                <a:solidFill>
                  <a:srgbClr val="FAF8F4"/>
                </a:solidFill>
                <a:latin typeface="Calibri" pitchFamily="34" charset="0"/>
                <a:ea typeface="Calibri" pitchFamily="34" charset="-122"/>
                <a:cs typeface="Calibri" pitchFamily="34" charset="-120"/>
              </a:rPr>
              <a:t>FEATURE TRACE</a:t>
            </a:r>
            <a:endParaRPr lang="en-US" sz="1000" dirty="0"/>
          </a:p>
        </p:txBody>
      </p:sp>
      <p:sp>
        <p:nvSpPr>
          <p:cNvPr id="13" name="Shape 11"/>
          <p:cNvSpPr/>
          <p:nvPr/>
        </p:nvSpPr>
        <p:spPr>
          <a:xfrm>
            <a:off x="5394960" y="5486400"/>
            <a:ext cx="2194560" cy="457200"/>
          </a:xfrm>
          <a:prstGeom prst="roundRect">
            <a:avLst>
              <a:gd name="adj" fmla="val 16000"/>
            </a:avLst>
          </a:prstGeom>
          <a:solidFill>
            <a:srgbClr val="142338"/>
          </a:solidFill>
          <a:ln w="12700">
            <a:solidFill>
              <a:srgbClr val="142338"/>
            </a:solidFill>
            <a:prstDash val="solid"/>
          </a:ln>
        </p:spPr>
        <p:txBody>
          <a:bodyPr/>
          <a:lstStyle/>
          <a:p>
            <a:endParaRPr lang="en-US"/>
          </a:p>
        </p:txBody>
      </p:sp>
      <p:sp>
        <p:nvSpPr>
          <p:cNvPr id="14" name="Text 12"/>
          <p:cNvSpPr/>
          <p:nvPr/>
        </p:nvSpPr>
        <p:spPr>
          <a:xfrm>
            <a:off x="5394960" y="5486400"/>
            <a:ext cx="2194560" cy="457200"/>
          </a:xfrm>
          <a:prstGeom prst="rect">
            <a:avLst/>
          </a:prstGeom>
          <a:noFill/>
          <a:ln/>
        </p:spPr>
        <p:txBody>
          <a:bodyPr wrap="square" lIns="0" tIns="0" rIns="0" bIns="0" rtlCol="0" anchor="ctr"/>
          <a:lstStyle/>
          <a:p>
            <a:pPr marL="0" indent="0" algn="ctr">
              <a:buNone/>
            </a:pPr>
            <a:r>
              <a:rPr lang="en-US" sz="1000" b="1" dirty="0">
                <a:solidFill>
                  <a:srgbClr val="FAF8F4"/>
                </a:solidFill>
                <a:latin typeface="Calibri" pitchFamily="34" charset="0"/>
                <a:ea typeface="Calibri" pitchFamily="34" charset="-122"/>
                <a:cs typeface="Calibri" pitchFamily="34" charset="-120"/>
              </a:rPr>
              <a:t>FRICTION MAPPING</a:t>
            </a:r>
            <a:endParaRPr lang="en-US" sz="1000" dirty="0"/>
          </a:p>
        </p:txBody>
      </p:sp>
      <p:sp>
        <p:nvSpPr>
          <p:cNvPr id="15" name="Shape 13"/>
          <p:cNvSpPr/>
          <p:nvPr/>
        </p:nvSpPr>
        <p:spPr>
          <a:xfrm>
            <a:off x="7772400" y="5486400"/>
            <a:ext cx="2194560" cy="457200"/>
          </a:xfrm>
          <a:prstGeom prst="roundRect">
            <a:avLst>
              <a:gd name="adj" fmla="val 16000"/>
            </a:avLst>
          </a:prstGeom>
          <a:solidFill>
            <a:srgbClr val="FF8C00"/>
          </a:solidFill>
          <a:ln w="12700">
            <a:solidFill>
              <a:srgbClr val="FF8C00"/>
            </a:solidFill>
            <a:prstDash val="solid"/>
          </a:ln>
        </p:spPr>
        <p:txBody>
          <a:bodyPr/>
          <a:lstStyle/>
          <a:p>
            <a:endParaRPr lang="en-US"/>
          </a:p>
        </p:txBody>
      </p:sp>
      <p:sp>
        <p:nvSpPr>
          <p:cNvPr id="16" name="Text 14"/>
          <p:cNvSpPr/>
          <p:nvPr/>
        </p:nvSpPr>
        <p:spPr>
          <a:xfrm>
            <a:off x="7772400" y="5486400"/>
            <a:ext cx="2194560" cy="457200"/>
          </a:xfrm>
          <a:prstGeom prst="rect">
            <a:avLst/>
          </a:prstGeom>
          <a:noFill/>
          <a:ln/>
        </p:spPr>
        <p:txBody>
          <a:bodyPr wrap="square" lIns="0" tIns="0" rIns="0" bIns="0" rtlCol="0" anchor="ctr"/>
          <a:lstStyle/>
          <a:p>
            <a:pPr marL="0" indent="0" algn="ctr">
              <a:buNone/>
            </a:pPr>
            <a:r>
              <a:rPr lang="en-US" sz="1000" b="1" dirty="0">
                <a:solidFill>
                  <a:srgbClr val="142338"/>
                </a:solidFill>
                <a:latin typeface="Calibri" pitchFamily="34" charset="0"/>
                <a:ea typeface="Calibri" pitchFamily="34" charset="-122"/>
                <a:cs typeface="Calibri" pitchFamily="34" charset="-120"/>
              </a:rPr>
              <a:t>PERSONA SYNTHESIS</a:t>
            </a:r>
            <a:endParaRPr lang="en-US" sz="1000" dirty="0"/>
          </a:p>
        </p:txBody>
      </p:sp>
      <p:sp>
        <p:nvSpPr>
          <p:cNvPr id="17" name="Text 15"/>
          <p:cNvSpPr/>
          <p:nvPr/>
        </p:nvSpPr>
        <p:spPr>
          <a:xfrm>
            <a:off x="10820095" y="6400800"/>
            <a:ext cx="914400" cy="274320"/>
          </a:xfrm>
          <a:prstGeom prst="rect">
            <a:avLst/>
          </a:prstGeom>
          <a:noFill/>
          <a:ln/>
        </p:spPr>
        <p:txBody>
          <a:bodyPr wrap="square" lIns="0" tIns="0" rIns="0" bIns="0" rtlCol="0" anchor="ctr"/>
          <a:lstStyle/>
          <a:p>
            <a:pPr marL="0" indent="0" algn="r">
              <a:buNone/>
            </a:pPr>
            <a:r>
              <a:rPr lang="en-US" sz="1000" b="1" dirty="0">
                <a:solidFill>
                  <a:srgbClr val="6B6B6B"/>
                </a:solidFill>
                <a:latin typeface="Calibri" pitchFamily="34" charset="0"/>
                <a:ea typeface="Calibri" pitchFamily="34" charset="-122"/>
                <a:cs typeface="Calibri" pitchFamily="34" charset="-120"/>
              </a:rPr>
              <a:t>02 / 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11323015" y="411480"/>
            <a:ext cx="457200" cy="457200"/>
          </a:xfrm>
          <a:prstGeom prst="rect">
            <a:avLst/>
          </a:prstGeom>
          <a:solidFill>
            <a:srgbClr val="FF8C00"/>
          </a:solidFill>
          <a:ln w="12700">
            <a:solidFill>
              <a:srgbClr val="FF8C00"/>
            </a:solidFill>
            <a:prstDash val="solid"/>
          </a:ln>
        </p:spPr>
        <p:txBody>
          <a:bodyPr/>
          <a:lstStyle/>
          <a:p>
            <a:endParaRPr lang="en-US"/>
          </a:p>
        </p:txBody>
      </p:sp>
      <p:sp>
        <p:nvSpPr>
          <p:cNvPr id="3" name="Text 1"/>
          <p:cNvSpPr/>
          <p:nvPr/>
        </p:nvSpPr>
        <p:spPr>
          <a:xfrm>
            <a:off x="11323015" y="411480"/>
            <a:ext cx="457200" cy="457200"/>
          </a:xfrm>
          <a:prstGeom prst="rect">
            <a:avLst/>
          </a:prstGeom>
          <a:noFill/>
          <a:ln/>
        </p:spPr>
        <p:txBody>
          <a:bodyPr wrap="square" lIns="0" tIns="0" rIns="0" bIns="0" rtlCol="0" anchor="ctr"/>
          <a:lstStyle/>
          <a:p>
            <a:pPr marL="0" indent="0" algn="ctr">
              <a:buNone/>
            </a:pPr>
            <a:r>
              <a:rPr lang="en-US" sz="1600" b="1" dirty="0">
                <a:solidFill>
                  <a:srgbClr val="142338"/>
                </a:solidFill>
                <a:latin typeface="Georgia" pitchFamily="34" charset="0"/>
                <a:ea typeface="Georgia" pitchFamily="34" charset="-122"/>
                <a:cs typeface="Georgia" pitchFamily="34" charset="-120"/>
              </a:rPr>
              <a:t>H9</a:t>
            </a:r>
            <a:endParaRPr lang="en-US" sz="1600" dirty="0"/>
          </a:p>
        </p:txBody>
      </p:sp>
      <p:sp>
        <p:nvSpPr>
          <p:cNvPr id="4" name="Text 2"/>
          <p:cNvSpPr/>
          <p:nvPr/>
        </p:nvSpPr>
        <p:spPr>
          <a:xfrm>
            <a:off x="640080" y="502920"/>
            <a:ext cx="4572000" cy="274320"/>
          </a:xfrm>
          <a:prstGeom prst="rect">
            <a:avLst/>
          </a:prstGeom>
          <a:noFill/>
          <a:ln/>
        </p:spPr>
        <p:txBody>
          <a:bodyPr wrap="square" lIns="0" tIns="0" rIns="0" bIns="0" rtlCol="0" anchor="ctr"/>
          <a:lstStyle/>
          <a:p>
            <a:pPr marL="0" indent="0">
              <a:buNone/>
            </a:pPr>
            <a:r>
              <a:rPr lang="en-US" sz="1100" b="1" kern="0" spc="600" dirty="0">
                <a:solidFill>
                  <a:srgbClr val="FF8C00"/>
                </a:solidFill>
                <a:latin typeface="Calibri" pitchFamily="34" charset="0"/>
                <a:ea typeface="Calibri" pitchFamily="34" charset="-122"/>
                <a:cs typeface="Calibri" pitchFamily="34" charset="-120"/>
              </a:rPr>
              <a:t>THE PRODUCT</a:t>
            </a:r>
            <a:endParaRPr lang="en-US" sz="1100" dirty="0"/>
          </a:p>
        </p:txBody>
      </p:sp>
      <p:sp>
        <p:nvSpPr>
          <p:cNvPr id="5" name="Text 3"/>
          <p:cNvSpPr/>
          <p:nvPr/>
        </p:nvSpPr>
        <p:spPr>
          <a:xfrm>
            <a:off x="640080" y="868680"/>
            <a:ext cx="10515600" cy="822960"/>
          </a:xfrm>
          <a:prstGeom prst="rect">
            <a:avLst/>
          </a:prstGeom>
          <a:noFill/>
          <a:ln/>
        </p:spPr>
        <p:txBody>
          <a:bodyPr wrap="square" lIns="0" tIns="0" rIns="0" bIns="0" rtlCol="0" anchor="ctr"/>
          <a:lstStyle/>
          <a:p>
            <a:pPr marL="0" indent="0">
              <a:buNone/>
            </a:pPr>
            <a:r>
              <a:rPr lang="en-US" sz="3600" b="1" dirty="0">
                <a:solidFill>
                  <a:srgbClr val="142338"/>
                </a:solidFill>
                <a:latin typeface="Georgia" pitchFamily="34" charset="0"/>
                <a:ea typeface="Georgia" pitchFamily="34" charset="-122"/>
                <a:cs typeface="Georgia" pitchFamily="34" charset="-120"/>
              </a:rPr>
              <a:t>What is IterateIQ?</a:t>
            </a:r>
            <a:endParaRPr lang="en-US" sz="3600" dirty="0"/>
          </a:p>
        </p:txBody>
      </p:sp>
      <p:sp>
        <p:nvSpPr>
          <p:cNvPr id="6" name="Text 4"/>
          <p:cNvSpPr/>
          <p:nvPr/>
        </p:nvSpPr>
        <p:spPr>
          <a:xfrm>
            <a:off x="640080" y="1828800"/>
            <a:ext cx="10515600" cy="12801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IterateIQ is H9's contract management platform — a single system where contractors and managers can scope contracts, define phases, log progress, and track the health of every project in their portfolio. Built for service businesses that have outgrown spreadsheets but don't need enterprise overhead.</a:t>
            </a:r>
            <a:endParaRPr lang="en-US" sz="1400" dirty="0"/>
          </a:p>
        </p:txBody>
      </p:sp>
      <p:sp>
        <p:nvSpPr>
          <p:cNvPr id="7" name="Text 5"/>
          <p:cNvSpPr/>
          <p:nvPr/>
        </p:nvSpPr>
        <p:spPr>
          <a:xfrm>
            <a:off x="640080" y="3383280"/>
            <a:ext cx="7315200" cy="274320"/>
          </a:xfrm>
          <a:prstGeom prst="rect">
            <a:avLst/>
          </a:prstGeom>
          <a:noFill/>
          <a:ln/>
        </p:spPr>
        <p:txBody>
          <a:bodyPr wrap="square" lIns="0" tIns="0" rIns="0" bIns="0" rtlCol="0" anchor="ctr"/>
          <a:lstStyle/>
          <a:p>
            <a:pPr marL="0" indent="0">
              <a:buNone/>
            </a:pPr>
            <a:r>
              <a:rPr lang="en-US" sz="1000" b="1" kern="0" spc="600" dirty="0">
                <a:solidFill>
                  <a:srgbClr val="142338"/>
                </a:solidFill>
                <a:latin typeface="Calibri" pitchFamily="34" charset="0"/>
                <a:ea typeface="Calibri" pitchFamily="34" charset="-122"/>
                <a:cs typeface="Calibri" pitchFamily="34" charset="-120"/>
              </a:rPr>
              <a:t>CORE VALUE POINTS</a:t>
            </a:r>
            <a:endParaRPr lang="en-US" sz="1000" dirty="0"/>
          </a:p>
        </p:txBody>
      </p:sp>
      <p:sp>
        <p:nvSpPr>
          <p:cNvPr id="8" name="Shape 6"/>
          <p:cNvSpPr/>
          <p:nvPr/>
        </p:nvSpPr>
        <p:spPr>
          <a:xfrm>
            <a:off x="640080" y="3794760"/>
            <a:ext cx="2697480" cy="2468880"/>
          </a:xfrm>
          <a:prstGeom prst="rect">
            <a:avLst/>
          </a:prstGeom>
          <a:solidFill>
            <a:srgbClr val="FFFFFF"/>
          </a:solidFill>
          <a:ln w="12700">
            <a:solidFill>
              <a:srgbClr val="D9D2C2"/>
            </a:solidFill>
            <a:prstDash val="solid"/>
          </a:ln>
        </p:spPr>
        <p:txBody>
          <a:bodyPr/>
          <a:lstStyle/>
          <a:p>
            <a:endParaRPr lang="en-US"/>
          </a:p>
        </p:txBody>
      </p:sp>
      <p:sp>
        <p:nvSpPr>
          <p:cNvPr id="9" name="Shape 7"/>
          <p:cNvSpPr/>
          <p:nvPr/>
        </p:nvSpPr>
        <p:spPr>
          <a:xfrm>
            <a:off x="640080" y="3794760"/>
            <a:ext cx="2697480" cy="73152"/>
          </a:xfrm>
          <a:prstGeom prst="rect">
            <a:avLst/>
          </a:prstGeom>
          <a:solidFill>
            <a:srgbClr val="FF8C00"/>
          </a:solidFill>
          <a:ln w="12700">
            <a:solidFill>
              <a:srgbClr val="FF8C00"/>
            </a:solidFill>
            <a:prstDash val="solid"/>
          </a:ln>
        </p:spPr>
        <p:txBody>
          <a:bodyPr/>
          <a:lstStyle/>
          <a:p>
            <a:endParaRPr lang="en-US"/>
          </a:p>
        </p:txBody>
      </p:sp>
      <p:sp>
        <p:nvSpPr>
          <p:cNvPr id="10" name="Text 8"/>
          <p:cNvSpPr/>
          <p:nvPr/>
        </p:nvSpPr>
        <p:spPr>
          <a:xfrm>
            <a:off x="868680" y="4023360"/>
            <a:ext cx="1371600" cy="365760"/>
          </a:xfrm>
          <a:prstGeom prst="rect">
            <a:avLst/>
          </a:prstGeom>
          <a:noFill/>
          <a:ln/>
        </p:spPr>
        <p:txBody>
          <a:bodyPr wrap="square" lIns="0" tIns="0" rIns="0" bIns="0" rtlCol="0" anchor="ctr"/>
          <a:lstStyle/>
          <a:p>
            <a:pPr marL="0" indent="0">
              <a:buNone/>
            </a:pPr>
            <a:r>
              <a:rPr lang="en-US" sz="2200" b="1" dirty="0">
                <a:solidFill>
                  <a:srgbClr val="FF8C00"/>
                </a:solidFill>
                <a:latin typeface="Georgia" pitchFamily="34" charset="0"/>
                <a:ea typeface="Georgia" pitchFamily="34" charset="-122"/>
                <a:cs typeface="Georgia" pitchFamily="34" charset="-120"/>
              </a:rPr>
              <a:t>01</a:t>
            </a:r>
            <a:endParaRPr lang="en-US" sz="2200" dirty="0"/>
          </a:p>
        </p:txBody>
      </p:sp>
      <p:sp>
        <p:nvSpPr>
          <p:cNvPr id="11" name="Text 9"/>
          <p:cNvSpPr/>
          <p:nvPr/>
        </p:nvSpPr>
        <p:spPr>
          <a:xfrm>
            <a:off x="868680" y="4480560"/>
            <a:ext cx="2331720" cy="640080"/>
          </a:xfrm>
          <a:prstGeom prst="rect">
            <a:avLst/>
          </a:prstGeom>
          <a:noFill/>
          <a:ln/>
        </p:spPr>
        <p:txBody>
          <a:bodyPr wrap="square" lIns="0" tIns="0" rIns="0" bIns="0" rtlCol="0" anchor="ctr"/>
          <a:lstStyle/>
          <a:p>
            <a:pPr marL="0" indent="0">
              <a:buNone/>
            </a:pPr>
            <a:r>
              <a:rPr lang="en-US" sz="1800" b="1" dirty="0">
                <a:solidFill>
                  <a:srgbClr val="142338"/>
                </a:solidFill>
                <a:latin typeface="Georgia" pitchFamily="34" charset="0"/>
                <a:ea typeface="Georgia" pitchFamily="34" charset="-122"/>
                <a:cs typeface="Georgia" pitchFamily="34" charset="-120"/>
              </a:rPr>
              <a:t>Phase-Based Clarity</a:t>
            </a:r>
            <a:endParaRPr lang="en-US" sz="1800" dirty="0"/>
          </a:p>
        </p:txBody>
      </p:sp>
      <p:sp>
        <p:nvSpPr>
          <p:cNvPr id="12" name="Text 10"/>
          <p:cNvSpPr/>
          <p:nvPr/>
        </p:nvSpPr>
        <p:spPr>
          <a:xfrm>
            <a:off x="868680" y="5120640"/>
            <a:ext cx="2331720" cy="1097280"/>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Every contract breaks down into priced phases with explicit deliverables — clients know what they're paying for, contractors know what 'done' means.</a:t>
            </a:r>
            <a:endParaRPr lang="en-US" sz="1100" dirty="0"/>
          </a:p>
        </p:txBody>
      </p:sp>
      <p:sp>
        <p:nvSpPr>
          <p:cNvPr id="13" name="Shape 11"/>
          <p:cNvSpPr/>
          <p:nvPr/>
        </p:nvSpPr>
        <p:spPr>
          <a:xfrm>
            <a:off x="3502152" y="3794760"/>
            <a:ext cx="2697480" cy="2468880"/>
          </a:xfrm>
          <a:prstGeom prst="rect">
            <a:avLst/>
          </a:prstGeom>
          <a:solidFill>
            <a:srgbClr val="FFFFFF"/>
          </a:solidFill>
          <a:ln w="12700">
            <a:solidFill>
              <a:srgbClr val="D9D2C2"/>
            </a:solidFill>
            <a:prstDash val="solid"/>
          </a:ln>
        </p:spPr>
        <p:txBody>
          <a:bodyPr/>
          <a:lstStyle/>
          <a:p>
            <a:endParaRPr lang="en-US"/>
          </a:p>
        </p:txBody>
      </p:sp>
      <p:sp>
        <p:nvSpPr>
          <p:cNvPr id="14" name="Shape 12"/>
          <p:cNvSpPr/>
          <p:nvPr/>
        </p:nvSpPr>
        <p:spPr>
          <a:xfrm>
            <a:off x="3502152" y="3794760"/>
            <a:ext cx="2697480" cy="73152"/>
          </a:xfrm>
          <a:prstGeom prst="rect">
            <a:avLst/>
          </a:prstGeom>
          <a:solidFill>
            <a:srgbClr val="FF8C00"/>
          </a:solidFill>
          <a:ln w="12700">
            <a:solidFill>
              <a:srgbClr val="FF8C00"/>
            </a:solidFill>
            <a:prstDash val="solid"/>
          </a:ln>
        </p:spPr>
        <p:txBody>
          <a:bodyPr/>
          <a:lstStyle/>
          <a:p>
            <a:endParaRPr lang="en-US"/>
          </a:p>
        </p:txBody>
      </p:sp>
      <p:sp>
        <p:nvSpPr>
          <p:cNvPr id="15" name="Text 13"/>
          <p:cNvSpPr/>
          <p:nvPr/>
        </p:nvSpPr>
        <p:spPr>
          <a:xfrm>
            <a:off x="3730752" y="4023360"/>
            <a:ext cx="1371600" cy="365760"/>
          </a:xfrm>
          <a:prstGeom prst="rect">
            <a:avLst/>
          </a:prstGeom>
          <a:noFill/>
          <a:ln/>
        </p:spPr>
        <p:txBody>
          <a:bodyPr wrap="square" lIns="0" tIns="0" rIns="0" bIns="0" rtlCol="0" anchor="ctr"/>
          <a:lstStyle/>
          <a:p>
            <a:pPr marL="0" indent="0">
              <a:buNone/>
            </a:pPr>
            <a:r>
              <a:rPr lang="en-US" sz="2200" b="1" dirty="0">
                <a:solidFill>
                  <a:srgbClr val="FF8C00"/>
                </a:solidFill>
                <a:latin typeface="Georgia" pitchFamily="34" charset="0"/>
                <a:ea typeface="Georgia" pitchFamily="34" charset="-122"/>
                <a:cs typeface="Georgia" pitchFamily="34" charset="-120"/>
              </a:rPr>
              <a:t>02</a:t>
            </a:r>
            <a:endParaRPr lang="en-US" sz="2200" dirty="0"/>
          </a:p>
        </p:txBody>
      </p:sp>
      <p:sp>
        <p:nvSpPr>
          <p:cNvPr id="16" name="Text 14"/>
          <p:cNvSpPr/>
          <p:nvPr/>
        </p:nvSpPr>
        <p:spPr>
          <a:xfrm>
            <a:off x="3730752" y="4480560"/>
            <a:ext cx="2331720" cy="640080"/>
          </a:xfrm>
          <a:prstGeom prst="rect">
            <a:avLst/>
          </a:prstGeom>
          <a:noFill/>
          <a:ln/>
        </p:spPr>
        <p:txBody>
          <a:bodyPr wrap="square" lIns="0" tIns="0" rIns="0" bIns="0" rtlCol="0" anchor="ctr"/>
          <a:lstStyle/>
          <a:p>
            <a:pPr marL="0" indent="0">
              <a:buNone/>
            </a:pPr>
            <a:r>
              <a:rPr lang="en-US" sz="1800" b="1" dirty="0">
                <a:solidFill>
                  <a:srgbClr val="142338"/>
                </a:solidFill>
                <a:latin typeface="Georgia" pitchFamily="34" charset="0"/>
                <a:ea typeface="Georgia" pitchFamily="34" charset="-122"/>
                <a:cs typeface="Georgia" pitchFamily="34" charset="-120"/>
              </a:rPr>
              <a:t>Real-Time Health Scores</a:t>
            </a:r>
            <a:endParaRPr lang="en-US" sz="1800" dirty="0"/>
          </a:p>
        </p:txBody>
      </p:sp>
      <p:sp>
        <p:nvSpPr>
          <p:cNvPr id="17" name="Text 15"/>
          <p:cNvSpPr/>
          <p:nvPr/>
        </p:nvSpPr>
        <p:spPr>
          <a:xfrm>
            <a:off x="3730752" y="5120640"/>
            <a:ext cx="2331720" cy="1097280"/>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Project health is visualized continuously, not buried in status meetings. Spot blocked work and budget risk before it escalates.</a:t>
            </a:r>
            <a:endParaRPr lang="en-US" sz="1100" dirty="0"/>
          </a:p>
        </p:txBody>
      </p:sp>
      <p:sp>
        <p:nvSpPr>
          <p:cNvPr id="18" name="Shape 16"/>
          <p:cNvSpPr/>
          <p:nvPr/>
        </p:nvSpPr>
        <p:spPr>
          <a:xfrm>
            <a:off x="6364224" y="3794760"/>
            <a:ext cx="2697480" cy="2468880"/>
          </a:xfrm>
          <a:prstGeom prst="rect">
            <a:avLst/>
          </a:prstGeom>
          <a:solidFill>
            <a:srgbClr val="FFFFFF"/>
          </a:solidFill>
          <a:ln w="12700">
            <a:solidFill>
              <a:srgbClr val="D9D2C2"/>
            </a:solidFill>
            <a:prstDash val="solid"/>
          </a:ln>
        </p:spPr>
        <p:txBody>
          <a:bodyPr/>
          <a:lstStyle/>
          <a:p>
            <a:endParaRPr lang="en-US"/>
          </a:p>
        </p:txBody>
      </p:sp>
      <p:sp>
        <p:nvSpPr>
          <p:cNvPr id="19" name="Shape 17"/>
          <p:cNvSpPr/>
          <p:nvPr/>
        </p:nvSpPr>
        <p:spPr>
          <a:xfrm>
            <a:off x="6364224" y="3794760"/>
            <a:ext cx="2697480" cy="73152"/>
          </a:xfrm>
          <a:prstGeom prst="rect">
            <a:avLst/>
          </a:prstGeom>
          <a:solidFill>
            <a:srgbClr val="FF8C00"/>
          </a:solidFill>
          <a:ln w="12700">
            <a:solidFill>
              <a:srgbClr val="FF8C00"/>
            </a:solidFill>
            <a:prstDash val="solid"/>
          </a:ln>
        </p:spPr>
        <p:txBody>
          <a:bodyPr/>
          <a:lstStyle/>
          <a:p>
            <a:endParaRPr lang="en-US"/>
          </a:p>
        </p:txBody>
      </p:sp>
      <p:sp>
        <p:nvSpPr>
          <p:cNvPr id="20" name="Text 18"/>
          <p:cNvSpPr/>
          <p:nvPr/>
        </p:nvSpPr>
        <p:spPr>
          <a:xfrm>
            <a:off x="6592824" y="4023360"/>
            <a:ext cx="1371600" cy="365760"/>
          </a:xfrm>
          <a:prstGeom prst="rect">
            <a:avLst/>
          </a:prstGeom>
          <a:noFill/>
          <a:ln/>
        </p:spPr>
        <p:txBody>
          <a:bodyPr wrap="square" lIns="0" tIns="0" rIns="0" bIns="0" rtlCol="0" anchor="ctr"/>
          <a:lstStyle/>
          <a:p>
            <a:pPr marL="0" indent="0">
              <a:buNone/>
            </a:pPr>
            <a:r>
              <a:rPr lang="en-US" sz="2200" b="1" dirty="0">
                <a:solidFill>
                  <a:srgbClr val="FF8C00"/>
                </a:solidFill>
                <a:latin typeface="Georgia" pitchFamily="34" charset="0"/>
                <a:ea typeface="Georgia" pitchFamily="34" charset="-122"/>
                <a:cs typeface="Georgia" pitchFamily="34" charset="-120"/>
              </a:rPr>
              <a:t>03</a:t>
            </a:r>
            <a:endParaRPr lang="en-US" sz="2200" dirty="0"/>
          </a:p>
        </p:txBody>
      </p:sp>
      <p:sp>
        <p:nvSpPr>
          <p:cNvPr id="21" name="Text 19"/>
          <p:cNvSpPr/>
          <p:nvPr/>
        </p:nvSpPr>
        <p:spPr>
          <a:xfrm>
            <a:off x="6592824" y="4480560"/>
            <a:ext cx="2331720" cy="640080"/>
          </a:xfrm>
          <a:prstGeom prst="rect">
            <a:avLst/>
          </a:prstGeom>
          <a:noFill/>
          <a:ln/>
        </p:spPr>
        <p:txBody>
          <a:bodyPr wrap="square" lIns="0" tIns="0" rIns="0" bIns="0" rtlCol="0" anchor="ctr"/>
          <a:lstStyle/>
          <a:p>
            <a:pPr marL="0" indent="0">
              <a:buNone/>
            </a:pPr>
            <a:r>
              <a:rPr lang="en-US" sz="1800" b="1" dirty="0">
                <a:solidFill>
                  <a:srgbClr val="142338"/>
                </a:solidFill>
                <a:latin typeface="Georgia" pitchFamily="34" charset="0"/>
                <a:ea typeface="Georgia" pitchFamily="34" charset="-122"/>
                <a:cs typeface="Georgia" pitchFamily="34" charset="-120"/>
              </a:rPr>
              <a:t>Built for Iteration</a:t>
            </a:r>
            <a:endParaRPr lang="en-US" sz="1800" dirty="0"/>
          </a:p>
        </p:txBody>
      </p:sp>
      <p:sp>
        <p:nvSpPr>
          <p:cNvPr id="22" name="Text 20"/>
          <p:cNvSpPr/>
          <p:nvPr/>
        </p:nvSpPr>
        <p:spPr>
          <a:xfrm>
            <a:off x="6592824" y="5120640"/>
            <a:ext cx="2331720" cy="1097280"/>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The platform assumes scope changes. Activity logs, version-tracked deliverables, and phase updates handle the messy middle of real projects.</a:t>
            </a:r>
            <a:endParaRPr lang="en-US" sz="1100" dirty="0"/>
          </a:p>
        </p:txBody>
      </p:sp>
      <p:sp>
        <p:nvSpPr>
          <p:cNvPr id="23" name="Shape 21"/>
          <p:cNvSpPr/>
          <p:nvPr/>
        </p:nvSpPr>
        <p:spPr>
          <a:xfrm>
            <a:off x="9226296" y="3794760"/>
            <a:ext cx="2697480" cy="2468880"/>
          </a:xfrm>
          <a:prstGeom prst="rect">
            <a:avLst/>
          </a:prstGeom>
          <a:solidFill>
            <a:srgbClr val="FFFFFF"/>
          </a:solidFill>
          <a:ln w="12700">
            <a:solidFill>
              <a:srgbClr val="D9D2C2"/>
            </a:solidFill>
            <a:prstDash val="solid"/>
          </a:ln>
        </p:spPr>
        <p:txBody>
          <a:bodyPr/>
          <a:lstStyle/>
          <a:p>
            <a:endParaRPr lang="en-US"/>
          </a:p>
        </p:txBody>
      </p:sp>
      <p:sp>
        <p:nvSpPr>
          <p:cNvPr id="24" name="Shape 22"/>
          <p:cNvSpPr/>
          <p:nvPr/>
        </p:nvSpPr>
        <p:spPr>
          <a:xfrm>
            <a:off x="9226296" y="3794760"/>
            <a:ext cx="2697480" cy="73152"/>
          </a:xfrm>
          <a:prstGeom prst="rect">
            <a:avLst/>
          </a:prstGeom>
          <a:solidFill>
            <a:srgbClr val="FF8C00"/>
          </a:solidFill>
          <a:ln w="12700">
            <a:solidFill>
              <a:srgbClr val="FF8C00"/>
            </a:solidFill>
            <a:prstDash val="solid"/>
          </a:ln>
        </p:spPr>
        <p:txBody>
          <a:bodyPr/>
          <a:lstStyle/>
          <a:p>
            <a:endParaRPr lang="en-US"/>
          </a:p>
        </p:txBody>
      </p:sp>
      <p:sp>
        <p:nvSpPr>
          <p:cNvPr id="25" name="Text 23"/>
          <p:cNvSpPr/>
          <p:nvPr/>
        </p:nvSpPr>
        <p:spPr>
          <a:xfrm>
            <a:off x="9454896" y="4023360"/>
            <a:ext cx="1371600" cy="365760"/>
          </a:xfrm>
          <a:prstGeom prst="rect">
            <a:avLst/>
          </a:prstGeom>
          <a:noFill/>
          <a:ln/>
        </p:spPr>
        <p:txBody>
          <a:bodyPr wrap="square" lIns="0" tIns="0" rIns="0" bIns="0" rtlCol="0" anchor="ctr"/>
          <a:lstStyle/>
          <a:p>
            <a:pPr marL="0" indent="0">
              <a:buNone/>
            </a:pPr>
            <a:r>
              <a:rPr lang="en-US" sz="2200" b="1" dirty="0">
                <a:solidFill>
                  <a:srgbClr val="FF8C00"/>
                </a:solidFill>
                <a:latin typeface="Georgia" pitchFamily="34" charset="0"/>
                <a:ea typeface="Georgia" pitchFamily="34" charset="-122"/>
                <a:cs typeface="Georgia" pitchFamily="34" charset="-120"/>
              </a:rPr>
              <a:t>04</a:t>
            </a:r>
            <a:endParaRPr lang="en-US" sz="2200" dirty="0"/>
          </a:p>
        </p:txBody>
      </p:sp>
      <p:sp>
        <p:nvSpPr>
          <p:cNvPr id="26" name="Text 24"/>
          <p:cNvSpPr/>
          <p:nvPr/>
        </p:nvSpPr>
        <p:spPr>
          <a:xfrm>
            <a:off x="9454896" y="4480560"/>
            <a:ext cx="2331720" cy="640080"/>
          </a:xfrm>
          <a:prstGeom prst="rect">
            <a:avLst/>
          </a:prstGeom>
          <a:noFill/>
          <a:ln/>
        </p:spPr>
        <p:txBody>
          <a:bodyPr wrap="square" lIns="0" tIns="0" rIns="0" bIns="0" rtlCol="0" anchor="ctr"/>
          <a:lstStyle/>
          <a:p>
            <a:pPr marL="0" indent="0">
              <a:buNone/>
            </a:pPr>
            <a:r>
              <a:rPr lang="en-US" sz="1800" b="1" dirty="0">
                <a:solidFill>
                  <a:srgbClr val="142338"/>
                </a:solidFill>
                <a:latin typeface="Georgia" pitchFamily="34" charset="0"/>
                <a:ea typeface="Georgia" pitchFamily="34" charset="-122"/>
                <a:cs typeface="Georgia" pitchFamily="34" charset="-120"/>
              </a:rPr>
              <a:t>H9 Design Standard</a:t>
            </a:r>
            <a:endParaRPr lang="en-US" sz="1800" dirty="0"/>
          </a:p>
        </p:txBody>
      </p:sp>
      <p:sp>
        <p:nvSpPr>
          <p:cNvPr id="27" name="Text 25"/>
          <p:cNvSpPr/>
          <p:nvPr/>
        </p:nvSpPr>
        <p:spPr>
          <a:xfrm>
            <a:off x="9454896" y="5120640"/>
            <a:ext cx="2331720" cy="1097280"/>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A clean, focused interface — navy, amber, and cream — that respects the user's attention. No dashboard bloat. No feature theatre.</a:t>
            </a:r>
            <a:endParaRPr lang="en-US" sz="1100" dirty="0"/>
          </a:p>
        </p:txBody>
      </p:sp>
      <p:sp>
        <p:nvSpPr>
          <p:cNvPr id="28" name="Text 26"/>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1000" b="1" dirty="0">
                <a:solidFill>
                  <a:srgbClr val="6B6B6B"/>
                </a:solidFill>
                <a:latin typeface="Calibri" pitchFamily="34" charset="0"/>
                <a:ea typeface="Calibri" pitchFamily="34" charset="-122"/>
                <a:cs typeface="Calibri" pitchFamily="34" charset="-120"/>
              </a:rPr>
              <a:t>03 / 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11323015" y="411480"/>
            <a:ext cx="457200" cy="457200"/>
          </a:xfrm>
          <a:prstGeom prst="rect">
            <a:avLst/>
          </a:prstGeom>
          <a:solidFill>
            <a:srgbClr val="FF8C00"/>
          </a:solidFill>
          <a:ln w="12700">
            <a:solidFill>
              <a:srgbClr val="FF8C00"/>
            </a:solidFill>
            <a:prstDash val="solid"/>
          </a:ln>
        </p:spPr>
        <p:txBody>
          <a:bodyPr/>
          <a:lstStyle/>
          <a:p>
            <a:endParaRPr lang="en-US"/>
          </a:p>
        </p:txBody>
      </p:sp>
      <p:sp>
        <p:nvSpPr>
          <p:cNvPr id="3" name="Text 1"/>
          <p:cNvSpPr/>
          <p:nvPr/>
        </p:nvSpPr>
        <p:spPr>
          <a:xfrm>
            <a:off x="11323015" y="411480"/>
            <a:ext cx="457200" cy="457200"/>
          </a:xfrm>
          <a:prstGeom prst="rect">
            <a:avLst/>
          </a:prstGeom>
          <a:noFill/>
          <a:ln/>
        </p:spPr>
        <p:txBody>
          <a:bodyPr wrap="square" lIns="0" tIns="0" rIns="0" bIns="0" rtlCol="0" anchor="ctr"/>
          <a:lstStyle/>
          <a:p>
            <a:pPr marL="0" indent="0" algn="ctr">
              <a:buNone/>
            </a:pPr>
            <a:r>
              <a:rPr lang="en-US" sz="1600" b="1" dirty="0">
                <a:solidFill>
                  <a:srgbClr val="142338"/>
                </a:solidFill>
                <a:latin typeface="Georgia" pitchFamily="34" charset="0"/>
                <a:ea typeface="Georgia" pitchFamily="34" charset="-122"/>
                <a:cs typeface="Georgia" pitchFamily="34" charset="-120"/>
              </a:rPr>
              <a:t>H9</a:t>
            </a:r>
            <a:endParaRPr lang="en-US" sz="1600" dirty="0"/>
          </a:p>
        </p:txBody>
      </p:sp>
      <p:sp>
        <p:nvSpPr>
          <p:cNvPr id="4" name="Text 2"/>
          <p:cNvSpPr/>
          <p:nvPr/>
        </p:nvSpPr>
        <p:spPr>
          <a:xfrm>
            <a:off x="640080" y="502920"/>
            <a:ext cx="7315200" cy="274320"/>
          </a:xfrm>
          <a:prstGeom prst="rect">
            <a:avLst/>
          </a:prstGeom>
          <a:noFill/>
          <a:ln/>
        </p:spPr>
        <p:txBody>
          <a:bodyPr wrap="square" lIns="0" tIns="0" rIns="0" bIns="0" rtlCol="0" anchor="ctr"/>
          <a:lstStyle/>
          <a:p>
            <a:pPr marL="0" indent="0">
              <a:buNone/>
            </a:pPr>
            <a:r>
              <a:rPr lang="en-US" sz="1100" b="1" kern="0" spc="600" dirty="0">
                <a:solidFill>
                  <a:srgbClr val="FF8C00"/>
                </a:solidFill>
                <a:latin typeface="Calibri" pitchFamily="34" charset="0"/>
                <a:ea typeface="Calibri" pitchFamily="34" charset="-122"/>
                <a:cs typeface="Calibri" pitchFamily="34" charset="-120"/>
              </a:rPr>
              <a:t>PERSONA 01  •  THE JUGGLER</a:t>
            </a:r>
            <a:endParaRPr lang="en-US" sz="1100" dirty="0"/>
          </a:p>
        </p:txBody>
      </p:sp>
      <p:sp>
        <p:nvSpPr>
          <p:cNvPr id="5" name="Text 3"/>
          <p:cNvSpPr/>
          <p:nvPr/>
        </p:nvSpPr>
        <p:spPr>
          <a:xfrm>
            <a:off x="640080" y="868680"/>
            <a:ext cx="10515600" cy="640080"/>
          </a:xfrm>
          <a:prstGeom prst="rect">
            <a:avLst/>
          </a:prstGeom>
          <a:noFill/>
          <a:ln/>
        </p:spPr>
        <p:txBody>
          <a:bodyPr wrap="square" lIns="0" tIns="0" rIns="0" bIns="0" rtlCol="0" anchor="ctr"/>
          <a:lstStyle/>
          <a:p>
            <a:pPr marL="0" indent="0">
              <a:buNone/>
            </a:pPr>
            <a:r>
              <a:rPr lang="en-US" sz="3200" b="1" dirty="0">
                <a:solidFill>
                  <a:srgbClr val="142338"/>
                </a:solidFill>
                <a:latin typeface="Georgia" pitchFamily="34" charset="0"/>
                <a:ea typeface="Georgia" pitchFamily="34" charset="-122"/>
                <a:cs typeface="Georgia" pitchFamily="34" charset="-120"/>
              </a:rPr>
              <a:t>Marcus Chen — Freelancer</a:t>
            </a:r>
            <a:endParaRPr lang="en-US" sz="3200" dirty="0"/>
          </a:p>
        </p:txBody>
      </p:sp>
      <p:sp>
        <p:nvSpPr>
          <p:cNvPr id="6" name="Text 4"/>
          <p:cNvSpPr/>
          <p:nvPr/>
        </p:nvSpPr>
        <p:spPr>
          <a:xfrm>
            <a:off x="640080" y="1463040"/>
            <a:ext cx="10515600" cy="457200"/>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The independent freelancer running multiple client engagements at once.</a:t>
            </a:r>
            <a:endParaRPr lang="en-US" sz="1400" dirty="0"/>
          </a:p>
        </p:txBody>
      </p:sp>
      <p:sp>
        <p:nvSpPr>
          <p:cNvPr id="7" name="Shape 5"/>
          <p:cNvSpPr/>
          <p:nvPr/>
        </p:nvSpPr>
        <p:spPr>
          <a:xfrm>
            <a:off x="640080" y="2194560"/>
            <a:ext cx="3657600" cy="4206240"/>
          </a:xfrm>
          <a:prstGeom prst="rect">
            <a:avLst/>
          </a:prstGeom>
          <a:solidFill>
            <a:srgbClr val="142338"/>
          </a:solidFill>
          <a:ln w="12700">
            <a:solidFill>
              <a:srgbClr val="142338"/>
            </a:solidFill>
            <a:prstDash val="solid"/>
          </a:ln>
        </p:spPr>
        <p:txBody>
          <a:bodyPr/>
          <a:lstStyle/>
          <a:p>
            <a:endParaRPr lang="en-US"/>
          </a:p>
        </p:txBody>
      </p:sp>
      <p:sp>
        <p:nvSpPr>
          <p:cNvPr id="8" name="Shape 6"/>
          <p:cNvSpPr/>
          <p:nvPr/>
        </p:nvSpPr>
        <p:spPr>
          <a:xfrm>
            <a:off x="640080" y="2194560"/>
            <a:ext cx="73152" cy="4206240"/>
          </a:xfrm>
          <a:prstGeom prst="rect">
            <a:avLst/>
          </a:prstGeom>
          <a:solidFill>
            <a:srgbClr val="FF8C00"/>
          </a:solidFill>
          <a:ln w="12700">
            <a:solidFill>
              <a:srgbClr val="FF8C00"/>
            </a:solidFill>
            <a:prstDash val="solid"/>
          </a:ln>
        </p:spPr>
        <p:txBody>
          <a:bodyPr/>
          <a:lstStyle/>
          <a:p>
            <a:endParaRPr lang="en-US"/>
          </a:p>
        </p:txBody>
      </p:sp>
      <p:sp>
        <p:nvSpPr>
          <p:cNvPr id="9" name="Shape 7"/>
          <p:cNvSpPr/>
          <p:nvPr/>
        </p:nvSpPr>
        <p:spPr>
          <a:xfrm>
            <a:off x="1005840" y="2514600"/>
            <a:ext cx="914400" cy="914400"/>
          </a:xfrm>
          <a:prstGeom prst="ellipse">
            <a:avLst/>
          </a:prstGeom>
          <a:solidFill>
            <a:srgbClr val="FF8C00"/>
          </a:solidFill>
          <a:ln w="12700">
            <a:solidFill>
              <a:srgbClr val="FF8C00"/>
            </a:solidFill>
            <a:prstDash val="solid"/>
          </a:ln>
        </p:spPr>
        <p:txBody>
          <a:bodyPr/>
          <a:lstStyle/>
          <a:p>
            <a:endParaRPr lang="en-US"/>
          </a:p>
        </p:txBody>
      </p:sp>
      <p:sp>
        <p:nvSpPr>
          <p:cNvPr id="10" name="Text 8"/>
          <p:cNvSpPr/>
          <p:nvPr/>
        </p:nvSpPr>
        <p:spPr>
          <a:xfrm>
            <a:off x="1005840" y="2514600"/>
            <a:ext cx="914400" cy="914400"/>
          </a:xfrm>
          <a:prstGeom prst="rect">
            <a:avLst/>
          </a:prstGeom>
          <a:noFill/>
          <a:ln/>
        </p:spPr>
        <p:txBody>
          <a:bodyPr wrap="square" lIns="0" tIns="0" rIns="0" bIns="0" rtlCol="0" anchor="ctr"/>
          <a:lstStyle/>
          <a:p>
            <a:pPr marL="0" indent="0" algn="ctr">
              <a:buNone/>
            </a:pPr>
            <a:r>
              <a:rPr lang="en-US" sz="2800" b="1" dirty="0">
                <a:solidFill>
                  <a:srgbClr val="142338"/>
                </a:solidFill>
                <a:latin typeface="Georgia" pitchFamily="34" charset="0"/>
                <a:ea typeface="Georgia" pitchFamily="34" charset="-122"/>
                <a:cs typeface="Georgia" pitchFamily="34" charset="-120"/>
              </a:rPr>
              <a:t>MC</a:t>
            </a:r>
            <a:endParaRPr lang="en-US" sz="2800" dirty="0"/>
          </a:p>
        </p:txBody>
      </p:sp>
      <p:sp>
        <p:nvSpPr>
          <p:cNvPr id="11" name="Text 9"/>
          <p:cNvSpPr/>
          <p:nvPr/>
        </p:nvSpPr>
        <p:spPr>
          <a:xfrm>
            <a:off x="2057400" y="2560320"/>
            <a:ext cx="2103120" cy="411480"/>
          </a:xfrm>
          <a:prstGeom prst="rect">
            <a:avLst/>
          </a:prstGeom>
          <a:noFill/>
          <a:ln/>
        </p:spPr>
        <p:txBody>
          <a:bodyPr wrap="square" lIns="0" tIns="0" rIns="0" bIns="0" rtlCol="0" anchor="ctr"/>
          <a:lstStyle/>
          <a:p>
            <a:pPr marL="0" indent="0">
              <a:buNone/>
            </a:pPr>
            <a:r>
              <a:rPr lang="en-US" sz="1800" b="1" dirty="0">
                <a:solidFill>
                  <a:srgbClr val="FAF8F4"/>
                </a:solidFill>
                <a:latin typeface="Georgia" pitchFamily="34" charset="0"/>
                <a:ea typeface="Georgia" pitchFamily="34" charset="-122"/>
                <a:cs typeface="Georgia" pitchFamily="34" charset="-120"/>
              </a:rPr>
              <a:t>Marcus Chen</a:t>
            </a:r>
            <a:endParaRPr lang="en-US" sz="1800" dirty="0"/>
          </a:p>
        </p:txBody>
      </p:sp>
      <p:sp>
        <p:nvSpPr>
          <p:cNvPr id="12" name="Text 10"/>
          <p:cNvSpPr/>
          <p:nvPr/>
        </p:nvSpPr>
        <p:spPr>
          <a:xfrm>
            <a:off x="2057400" y="2999232"/>
            <a:ext cx="2103120" cy="411480"/>
          </a:xfrm>
          <a:prstGeom prst="rect">
            <a:avLst/>
          </a:prstGeom>
          <a:noFill/>
          <a:ln/>
        </p:spPr>
        <p:txBody>
          <a:bodyPr wrap="square" lIns="0" tIns="0" rIns="0" bIns="0" rtlCol="0" anchor="ctr"/>
          <a:lstStyle/>
          <a:p>
            <a:pPr marL="0" indent="0">
              <a:buNone/>
            </a:pPr>
            <a:r>
              <a:rPr lang="en-US" sz="1100" dirty="0">
                <a:solidFill>
                  <a:srgbClr val="FFB347"/>
                </a:solidFill>
                <a:latin typeface="Calibri" pitchFamily="34" charset="0"/>
                <a:ea typeface="Calibri" pitchFamily="34" charset="-122"/>
                <a:cs typeface="Calibri" pitchFamily="34" charset="-120"/>
              </a:rPr>
              <a:t>Freelance UX Designer &amp; Front-End Dev</a:t>
            </a:r>
            <a:endParaRPr lang="en-US" sz="1100" dirty="0"/>
          </a:p>
        </p:txBody>
      </p:sp>
      <p:sp>
        <p:nvSpPr>
          <p:cNvPr id="13" name="Text 11"/>
          <p:cNvSpPr/>
          <p:nvPr/>
        </p:nvSpPr>
        <p:spPr>
          <a:xfrm>
            <a:off x="914400" y="3749040"/>
            <a:ext cx="1371600" cy="228600"/>
          </a:xfrm>
          <a:prstGeom prst="rect">
            <a:avLst/>
          </a:prstGeom>
          <a:noFill/>
          <a:ln/>
        </p:spPr>
        <p:txBody>
          <a:bodyPr wrap="square" lIns="0" tIns="0" rIns="0" bIns="0" rtlCol="0" anchor="ctr"/>
          <a:lstStyle/>
          <a:p>
            <a:pPr marL="0" indent="0">
              <a:buNone/>
            </a:pPr>
            <a:r>
              <a:rPr lang="en-US" sz="900" b="1" kern="0" spc="400" dirty="0">
                <a:solidFill>
                  <a:srgbClr val="FF8C00"/>
                </a:solidFill>
                <a:latin typeface="Calibri" pitchFamily="34" charset="0"/>
                <a:ea typeface="Calibri" pitchFamily="34" charset="-122"/>
                <a:cs typeface="Calibri" pitchFamily="34" charset="-120"/>
              </a:rPr>
              <a:t>AGE</a:t>
            </a:r>
            <a:endParaRPr lang="en-US" sz="900" dirty="0"/>
          </a:p>
        </p:txBody>
      </p:sp>
      <p:sp>
        <p:nvSpPr>
          <p:cNvPr id="14" name="Text 12"/>
          <p:cNvSpPr/>
          <p:nvPr/>
        </p:nvSpPr>
        <p:spPr>
          <a:xfrm>
            <a:off x="914400" y="3977640"/>
            <a:ext cx="3200400" cy="292608"/>
          </a:xfrm>
          <a:prstGeom prst="rect">
            <a:avLst/>
          </a:prstGeom>
          <a:noFill/>
          <a:ln/>
        </p:spPr>
        <p:txBody>
          <a:bodyPr wrap="square" lIns="0" tIns="0" rIns="0" bIns="0" rtlCol="0" anchor="ctr"/>
          <a:lstStyle/>
          <a:p>
            <a:pPr marL="0" indent="0">
              <a:buNone/>
            </a:pPr>
            <a:r>
              <a:rPr lang="en-US" sz="1200" dirty="0">
                <a:solidFill>
                  <a:srgbClr val="FAF8F4"/>
                </a:solidFill>
                <a:latin typeface="Calibri" pitchFamily="34" charset="0"/>
                <a:ea typeface="Calibri" pitchFamily="34" charset="-122"/>
                <a:cs typeface="Calibri" pitchFamily="34" charset="-120"/>
              </a:rPr>
              <a:t>32</a:t>
            </a:r>
            <a:endParaRPr lang="en-US" sz="1200" dirty="0"/>
          </a:p>
        </p:txBody>
      </p:sp>
      <p:sp>
        <p:nvSpPr>
          <p:cNvPr id="15" name="Text 13"/>
          <p:cNvSpPr/>
          <p:nvPr/>
        </p:nvSpPr>
        <p:spPr>
          <a:xfrm>
            <a:off x="914400" y="4315968"/>
            <a:ext cx="1371600" cy="228600"/>
          </a:xfrm>
          <a:prstGeom prst="rect">
            <a:avLst/>
          </a:prstGeom>
          <a:noFill/>
          <a:ln/>
        </p:spPr>
        <p:txBody>
          <a:bodyPr wrap="square" lIns="0" tIns="0" rIns="0" bIns="0" rtlCol="0" anchor="ctr"/>
          <a:lstStyle/>
          <a:p>
            <a:pPr marL="0" indent="0">
              <a:buNone/>
            </a:pPr>
            <a:r>
              <a:rPr lang="en-US" sz="900" b="1" kern="0" spc="400" dirty="0">
                <a:solidFill>
                  <a:srgbClr val="FF8C00"/>
                </a:solidFill>
                <a:latin typeface="Calibri" pitchFamily="34" charset="0"/>
                <a:ea typeface="Calibri" pitchFamily="34" charset="-122"/>
                <a:cs typeface="Calibri" pitchFamily="34" charset="-120"/>
              </a:rPr>
              <a:t>LOCATION</a:t>
            </a:r>
            <a:endParaRPr lang="en-US" sz="900" dirty="0"/>
          </a:p>
        </p:txBody>
      </p:sp>
      <p:sp>
        <p:nvSpPr>
          <p:cNvPr id="16" name="Text 14"/>
          <p:cNvSpPr/>
          <p:nvPr/>
        </p:nvSpPr>
        <p:spPr>
          <a:xfrm>
            <a:off x="914400" y="4544568"/>
            <a:ext cx="3200400" cy="292608"/>
          </a:xfrm>
          <a:prstGeom prst="rect">
            <a:avLst/>
          </a:prstGeom>
          <a:noFill/>
          <a:ln/>
        </p:spPr>
        <p:txBody>
          <a:bodyPr wrap="square" lIns="0" tIns="0" rIns="0" bIns="0" rtlCol="0" anchor="ctr"/>
          <a:lstStyle/>
          <a:p>
            <a:pPr marL="0" indent="0">
              <a:buNone/>
            </a:pPr>
            <a:r>
              <a:rPr lang="en-US" sz="1200" dirty="0">
                <a:solidFill>
                  <a:srgbClr val="FAF8F4"/>
                </a:solidFill>
                <a:latin typeface="Calibri" pitchFamily="34" charset="0"/>
                <a:ea typeface="Calibri" pitchFamily="34" charset="-122"/>
                <a:cs typeface="Calibri" pitchFamily="34" charset="-120"/>
              </a:rPr>
              <a:t>Austin, TX (remote)</a:t>
            </a:r>
            <a:endParaRPr lang="en-US" sz="1200" dirty="0"/>
          </a:p>
        </p:txBody>
      </p:sp>
      <p:sp>
        <p:nvSpPr>
          <p:cNvPr id="17" name="Text 15"/>
          <p:cNvSpPr/>
          <p:nvPr/>
        </p:nvSpPr>
        <p:spPr>
          <a:xfrm>
            <a:off x="914400" y="4882896"/>
            <a:ext cx="1371600" cy="228600"/>
          </a:xfrm>
          <a:prstGeom prst="rect">
            <a:avLst/>
          </a:prstGeom>
          <a:noFill/>
          <a:ln/>
        </p:spPr>
        <p:txBody>
          <a:bodyPr wrap="square" lIns="0" tIns="0" rIns="0" bIns="0" rtlCol="0" anchor="ctr"/>
          <a:lstStyle/>
          <a:p>
            <a:pPr marL="0" indent="0">
              <a:buNone/>
            </a:pPr>
            <a:r>
              <a:rPr lang="en-US" sz="900" b="1" kern="0" spc="400" dirty="0">
                <a:solidFill>
                  <a:srgbClr val="FF8C00"/>
                </a:solidFill>
                <a:latin typeface="Calibri" pitchFamily="34" charset="0"/>
                <a:ea typeface="Calibri" pitchFamily="34" charset="-122"/>
                <a:cs typeface="Calibri" pitchFamily="34" charset="-120"/>
              </a:rPr>
              <a:t>TECH COMFORT</a:t>
            </a:r>
            <a:endParaRPr lang="en-US" sz="900" dirty="0"/>
          </a:p>
        </p:txBody>
      </p:sp>
      <p:sp>
        <p:nvSpPr>
          <p:cNvPr id="18" name="Text 16"/>
          <p:cNvSpPr/>
          <p:nvPr/>
        </p:nvSpPr>
        <p:spPr>
          <a:xfrm>
            <a:off x="914400" y="5111496"/>
            <a:ext cx="3200400" cy="292608"/>
          </a:xfrm>
          <a:prstGeom prst="rect">
            <a:avLst/>
          </a:prstGeom>
          <a:noFill/>
          <a:ln/>
        </p:spPr>
        <p:txBody>
          <a:bodyPr wrap="square" lIns="0" tIns="0" rIns="0" bIns="0" rtlCol="0" anchor="ctr"/>
          <a:lstStyle/>
          <a:p>
            <a:pPr marL="0" indent="0">
              <a:buNone/>
            </a:pPr>
            <a:r>
              <a:rPr lang="en-US" sz="1200" dirty="0">
                <a:solidFill>
                  <a:srgbClr val="FAF8F4"/>
                </a:solidFill>
                <a:latin typeface="Calibri" pitchFamily="34" charset="0"/>
                <a:ea typeface="Calibri" pitchFamily="34" charset="-122"/>
                <a:cs typeface="Calibri" pitchFamily="34" charset="-120"/>
              </a:rPr>
              <a:t>High — Figma, VS Code, Notion</a:t>
            </a:r>
            <a:endParaRPr lang="en-US" sz="1200" dirty="0"/>
          </a:p>
        </p:txBody>
      </p:sp>
      <p:sp>
        <p:nvSpPr>
          <p:cNvPr id="19" name="Text 17"/>
          <p:cNvSpPr/>
          <p:nvPr/>
        </p:nvSpPr>
        <p:spPr>
          <a:xfrm>
            <a:off x="914400" y="5449824"/>
            <a:ext cx="1371600" cy="228600"/>
          </a:xfrm>
          <a:prstGeom prst="rect">
            <a:avLst/>
          </a:prstGeom>
          <a:noFill/>
          <a:ln/>
        </p:spPr>
        <p:txBody>
          <a:bodyPr wrap="square" lIns="0" tIns="0" rIns="0" bIns="0" rtlCol="0" anchor="ctr"/>
          <a:lstStyle/>
          <a:p>
            <a:pPr marL="0" indent="0">
              <a:buNone/>
            </a:pPr>
            <a:r>
              <a:rPr lang="en-US" sz="900" b="1" kern="0" spc="400" dirty="0">
                <a:solidFill>
                  <a:srgbClr val="FF8C00"/>
                </a:solidFill>
                <a:latin typeface="Calibri" pitchFamily="34" charset="0"/>
                <a:ea typeface="Calibri" pitchFamily="34" charset="-122"/>
                <a:cs typeface="Calibri" pitchFamily="34" charset="-120"/>
              </a:rPr>
              <a:t>CONTRACTS</a:t>
            </a:r>
            <a:endParaRPr lang="en-US" sz="900" dirty="0"/>
          </a:p>
        </p:txBody>
      </p:sp>
      <p:sp>
        <p:nvSpPr>
          <p:cNvPr id="20" name="Text 18"/>
          <p:cNvSpPr/>
          <p:nvPr/>
        </p:nvSpPr>
        <p:spPr>
          <a:xfrm>
            <a:off x="914400" y="5678424"/>
            <a:ext cx="3200400" cy="292608"/>
          </a:xfrm>
          <a:prstGeom prst="rect">
            <a:avLst/>
          </a:prstGeom>
          <a:noFill/>
          <a:ln/>
        </p:spPr>
        <p:txBody>
          <a:bodyPr wrap="square" lIns="0" tIns="0" rIns="0" bIns="0" rtlCol="0" anchor="ctr"/>
          <a:lstStyle/>
          <a:p>
            <a:pPr marL="0" indent="0">
              <a:buNone/>
            </a:pPr>
            <a:r>
              <a:rPr lang="en-US" sz="1200" dirty="0">
                <a:solidFill>
                  <a:srgbClr val="FAF8F4"/>
                </a:solidFill>
                <a:latin typeface="Calibri" pitchFamily="34" charset="0"/>
                <a:ea typeface="Calibri" pitchFamily="34" charset="-122"/>
                <a:cs typeface="Calibri" pitchFamily="34" charset="-120"/>
              </a:rPr>
              <a:t>3-6 active, $2K-$25K each</a:t>
            </a:r>
            <a:endParaRPr lang="en-US" sz="1200" dirty="0"/>
          </a:p>
        </p:txBody>
      </p:sp>
      <p:sp>
        <p:nvSpPr>
          <p:cNvPr id="21" name="Shape 19"/>
          <p:cNvSpPr/>
          <p:nvPr/>
        </p:nvSpPr>
        <p:spPr>
          <a:xfrm>
            <a:off x="914400" y="6355080"/>
            <a:ext cx="3108960" cy="18288"/>
          </a:xfrm>
          <a:prstGeom prst="rect">
            <a:avLst/>
          </a:prstGeom>
          <a:solidFill>
            <a:srgbClr val="FF8C00"/>
          </a:solidFill>
          <a:ln w="12700">
            <a:solidFill>
              <a:srgbClr val="FF8C00"/>
            </a:solidFill>
            <a:prstDash val="solid"/>
          </a:ln>
        </p:spPr>
        <p:txBody>
          <a:bodyPr/>
          <a:lstStyle/>
          <a:p>
            <a:endParaRPr lang="en-US"/>
          </a:p>
        </p:txBody>
      </p:sp>
      <p:sp>
        <p:nvSpPr>
          <p:cNvPr id="22" name="Text 20"/>
          <p:cNvSpPr/>
          <p:nvPr/>
        </p:nvSpPr>
        <p:spPr>
          <a:xfrm>
            <a:off x="4572000" y="2194560"/>
            <a:ext cx="3657600" cy="274320"/>
          </a:xfrm>
          <a:prstGeom prst="rect">
            <a:avLst/>
          </a:prstGeom>
          <a:noFill/>
          <a:ln/>
        </p:spPr>
        <p:txBody>
          <a:bodyPr wrap="square" lIns="0" tIns="0" rIns="0" bIns="0" rtlCol="0" anchor="ctr"/>
          <a:lstStyle/>
          <a:p>
            <a:pPr marL="0" indent="0">
              <a:buNone/>
            </a:pPr>
            <a:r>
              <a:rPr lang="en-US" sz="1000" b="1" kern="0" spc="600" dirty="0">
                <a:solidFill>
                  <a:srgbClr val="FF8C00"/>
                </a:solidFill>
                <a:latin typeface="Calibri" pitchFamily="34" charset="0"/>
                <a:ea typeface="Calibri" pitchFamily="34" charset="-122"/>
                <a:cs typeface="Calibri" pitchFamily="34" charset="-120"/>
              </a:rPr>
              <a:t>GOALS</a:t>
            </a:r>
            <a:endParaRPr lang="en-US" sz="1000" dirty="0"/>
          </a:p>
        </p:txBody>
      </p:sp>
      <p:sp>
        <p:nvSpPr>
          <p:cNvPr id="23" name="Text 21"/>
          <p:cNvSpPr/>
          <p:nvPr/>
        </p:nvSpPr>
        <p:spPr>
          <a:xfrm>
            <a:off x="4572000" y="2487168"/>
            <a:ext cx="6949440"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Keep every client engagement moving without dropping balls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Get paid on time for the work he actually delivered</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Spend more hours doing the work, fewer hours managing it</a:t>
            </a:r>
            <a:endParaRPr lang="en-US" sz="1200" dirty="0"/>
          </a:p>
        </p:txBody>
      </p:sp>
      <p:sp>
        <p:nvSpPr>
          <p:cNvPr id="24" name="Text 22"/>
          <p:cNvSpPr/>
          <p:nvPr/>
        </p:nvSpPr>
        <p:spPr>
          <a:xfrm>
            <a:off x="4572000" y="3520440"/>
            <a:ext cx="6400800" cy="274320"/>
          </a:xfrm>
          <a:prstGeom prst="rect">
            <a:avLst/>
          </a:prstGeom>
          <a:noFill/>
          <a:ln/>
        </p:spPr>
        <p:txBody>
          <a:bodyPr wrap="square" lIns="0" tIns="0" rIns="0" bIns="0" rtlCol="0" anchor="ctr"/>
          <a:lstStyle/>
          <a:p>
            <a:pPr marL="0" indent="0">
              <a:buNone/>
            </a:pPr>
            <a:r>
              <a:rPr lang="en-US" sz="1000" b="1" kern="0" spc="600" dirty="0">
                <a:solidFill>
                  <a:srgbClr val="FF8C00"/>
                </a:solidFill>
                <a:latin typeface="Calibri" pitchFamily="34" charset="0"/>
                <a:ea typeface="Calibri" pitchFamily="34" charset="-122"/>
                <a:cs typeface="Calibri" pitchFamily="34" charset="-120"/>
              </a:rPr>
              <a:t>DAY-TO-DAY PAIN POINTS</a:t>
            </a:r>
            <a:endParaRPr lang="en-US" sz="1000" dirty="0"/>
          </a:p>
        </p:txBody>
      </p:sp>
      <p:sp>
        <p:nvSpPr>
          <p:cNvPr id="25" name="Shape 23"/>
          <p:cNvSpPr/>
          <p:nvPr/>
        </p:nvSpPr>
        <p:spPr>
          <a:xfrm>
            <a:off x="4572000" y="3886200"/>
            <a:ext cx="2179320" cy="2331720"/>
          </a:xfrm>
          <a:prstGeom prst="rect">
            <a:avLst/>
          </a:prstGeom>
          <a:solidFill>
            <a:srgbClr val="FFFFFF"/>
          </a:solidFill>
          <a:ln w="12700">
            <a:solidFill>
              <a:srgbClr val="D9D2C2"/>
            </a:solidFill>
            <a:prstDash val="solid"/>
          </a:ln>
        </p:spPr>
        <p:txBody>
          <a:bodyPr/>
          <a:lstStyle/>
          <a:p>
            <a:endParaRPr lang="en-US"/>
          </a:p>
        </p:txBody>
      </p:sp>
      <p:sp>
        <p:nvSpPr>
          <p:cNvPr id="26" name="Shape 24"/>
          <p:cNvSpPr/>
          <p:nvPr/>
        </p:nvSpPr>
        <p:spPr>
          <a:xfrm>
            <a:off x="4572000" y="3886200"/>
            <a:ext cx="54864" cy="2331720"/>
          </a:xfrm>
          <a:prstGeom prst="rect">
            <a:avLst/>
          </a:prstGeom>
          <a:solidFill>
            <a:srgbClr val="C0392B"/>
          </a:solidFill>
          <a:ln w="12700">
            <a:solidFill>
              <a:srgbClr val="C0392B"/>
            </a:solidFill>
            <a:prstDash val="solid"/>
          </a:ln>
        </p:spPr>
        <p:txBody>
          <a:bodyPr/>
          <a:lstStyle/>
          <a:p>
            <a:endParaRPr lang="en-US"/>
          </a:p>
        </p:txBody>
      </p:sp>
      <p:sp>
        <p:nvSpPr>
          <p:cNvPr id="27" name="Text 25"/>
          <p:cNvSpPr/>
          <p:nvPr/>
        </p:nvSpPr>
        <p:spPr>
          <a:xfrm>
            <a:off x="4754880" y="4023360"/>
            <a:ext cx="1859280" cy="228600"/>
          </a:xfrm>
          <a:prstGeom prst="rect">
            <a:avLst/>
          </a:prstGeom>
          <a:noFill/>
          <a:ln/>
        </p:spPr>
        <p:txBody>
          <a:bodyPr wrap="square" lIns="0" tIns="0" rIns="0" bIns="0" rtlCol="0" anchor="ctr"/>
          <a:lstStyle/>
          <a:p>
            <a:pPr marL="0" indent="0">
              <a:buNone/>
            </a:pPr>
            <a:r>
              <a:rPr lang="en-US" sz="800" b="1" kern="0" spc="400" dirty="0">
                <a:solidFill>
                  <a:srgbClr val="C0392B"/>
                </a:solidFill>
                <a:latin typeface="Calibri" pitchFamily="34" charset="0"/>
                <a:ea typeface="Calibri" pitchFamily="34" charset="-122"/>
                <a:cs typeface="Calibri" pitchFamily="34" charset="-120"/>
              </a:rPr>
              <a:t>CRITICAL</a:t>
            </a:r>
            <a:endParaRPr lang="en-US" sz="800" dirty="0"/>
          </a:p>
        </p:txBody>
      </p:sp>
      <p:sp>
        <p:nvSpPr>
          <p:cNvPr id="28" name="Text 26"/>
          <p:cNvSpPr/>
          <p:nvPr/>
        </p:nvSpPr>
        <p:spPr>
          <a:xfrm>
            <a:off x="4754880" y="4270248"/>
            <a:ext cx="1950720" cy="548640"/>
          </a:xfrm>
          <a:prstGeom prst="rect">
            <a:avLst/>
          </a:prstGeom>
          <a:noFill/>
          <a:ln/>
        </p:spPr>
        <p:txBody>
          <a:bodyPr wrap="square" lIns="0" tIns="0" rIns="0" bIns="0" rtlCol="0" anchor="ctr"/>
          <a:lstStyle/>
          <a:p>
            <a:pPr marL="0" indent="0">
              <a:buNone/>
            </a:pPr>
            <a:r>
              <a:rPr lang="en-US" sz="1300" b="1" dirty="0">
                <a:solidFill>
                  <a:srgbClr val="142338"/>
                </a:solidFill>
                <a:latin typeface="Georgia" pitchFamily="34" charset="0"/>
                <a:ea typeface="Georgia" pitchFamily="34" charset="-122"/>
                <a:cs typeface="Georgia" pitchFamily="34" charset="-120"/>
              </a:rPr>
              <a:t>Scope creep with no paper trail</a:t>
            </a:r>
            <a:endParaRPr lang="en-US" sz="1300" dirty="0"/>
          </a:p>
        </p:txBody>
      </p:sp>
      <p:sp>
        <p:nvSpPr>
          <p:cNvPr id="29" name="Text 27"/>
          <p:cNvSpPr/>
          <p:nvPr/>
        </p:nvSpPr>
        <p:spPr>
          <a:xfrm>
            <a:off x="4754880" y="4892040"/>
            <a:ext cx="1950720" cy="1280160"/>
          </a:xfrm>
          <a:prstGeom prst="rect">
            <a:avLst/>
          </a:prstGeom>
          <a:noFill/>
          <a:ln/>
        </p:spPr>
        <p:txBody>
          <a:bodyPr wrap="square" lIns="0" tIns="0" rIns="0" bIns="0" rtlCol="0" anchor="ctr"/>
          <a:lstStyle/>
          <a:p>
            <a:pPr marL="0" indent="0">
              <a:buNone/>
            </a:pPr>
            <a:r>
              <a:rPr lang="en-US" sz="1000" dirty="0">
                <a:solidFill>
                  <a:srgbClr val="6B6B6B"/>
                </a:solidFill>
                <a:latin typeface="Calibri" pitchFamily="34" charset="0"/>
                <a:ea typeface="Calibri" pitchFamily="34" charset="-122"/>
                <a:cs typeface="Calibri" pitchFamily="34" charset="-120"/>
              </a:rPr>
              <a:t>Clients ask for 'one more small thing' over Slack and email. Without a record, those asks pile into unpaid work and hard conversations later.</a:t>
            </a:r>
            <a:endParaRPr lang="en-US" sz="1000" dirty="0"/>
          </a:p>
        </p:txBody>
      </p:sp>
      <p:sp>
        <p:nvSpPr>
          <p:cNvPr id="30" name="Shape 28"/>
          <p:cNvSpPr/>
          <p:nvPr/>
        </p:nvSpPr>
        <p:spPr>
          <a:xfrm>
            <a:off x="6934200" y="3886200"/>
            <a:ext cx="2179320" cy="2331720"/>
          </a:xfrm>
          <a:prstGeom prst="rect">
            <a:avLst/>
          </a:prstGeom>
          <a:solidFill>
            <a:srgbClr val="FFFFFF"/>
          </a:solidFill>
          <a:ln w="12700">
            <a:solidFill>
              <a:srgbClr val="D9D2C2"/>
            </a:solidFill>
            <a:prstDash val="solid"/>
          </a:ln>
        </p:spPr>
        <p:txBody>
          <a:bodyPr/>
          <a:lstStyle/>
          <a:p>
            <a:endParaRPr lang="en-US"/>
          </a:p>
        </p:txBody>
      </p:sp>
      <p:sp>
        <p:nvSpPr>
          <p:cNvPr id="31" name="Shape 29"/>
          <p:cNvSpPr/>
          <p:nvPr/>
        </p:nvSpPr>
        <p:spPr>
          <a:xfrm>
            <a:off x="6934200" y="3886200"/>
            <a:ext cx="54864" cy="2331720"/>
          </a:xfrm>
          <a:prstGeom prst="rect">
            <a:avLst/>
          </a:prstGeom>
          <a:solidFill>
            <a:srgbClr val="C0392B"/>
          </a:solidFill>
          <a:ln w="12700">
            <a:solidFill>
              <a:srgbClr val="C0392B"/>
            </a:solidFill>
            <a:prstDash val="solid"/>
          </a:ln>
        </p:spPr>
        <p:txBody>
          <a:bodyPr/>
          <a:lstStyle/>
          <a:p>
            <a:endParaRPr lang="en-US"/>
          </a:p>
        </p:txBody>
      </p:sp>
      <p:sp>
        <p:nvSpPr>
          <p:cNvPr id="32" name="Text 30"/>
          <p:cNvSpPr/>
          <p:nvPr/>
        </p:nvSpPr>
        <p:spPr>
          <a:xfrm>
            <a:off x="7117080" y="4023360"/>
            <a:ext cx="1859280" cy="228600"/>
          </a:xfrm>
          <a:prstGeom prst="rect">
            <a:avLst/>
          </a:prstGeom>
          <a:noFill/>
          <a:ln/>
        </p:spPr>
        <p:txBody>
          <a:bodyPr wrap="square" lIns="0" tIns="0" rIns="0" bIns="0" rtlCol="0" anchor="ctr"/>
          <a:lstStyle/>
          <a:p>
            <a:pPr marL="0" indent="0">
              <a:buNone/>
            </a:pPr>
            <a:r>
              <a:rPr lang="en-US" sz="800" b="1" kern="0" spc="400" dirty="0">
                <a:solidFill>
                  <a:srgbClr val="C0392B"/>
                </a:solidFill>
                <a:latin typeface="Calibri" pitchFamily="34" charset="0"/>
                <a:ea typeface="Calibri" pitchFamily="34" charset="-122"/>
                <a:cs typeface="Calibri" pitchFamily="34" charset="-120"/>
              </a:rPr>
              <a:t>CRITICAL</a:t>
            </a:r>
            <a:endParaRPr lang="en-US" sz="800" dirty="0"/>
          </a:p>
        </p:txBody>
      </p:sp>
      <p:sp>
        <p:nvSpPr>
          <p:cNvPr id="33" name="Text 31"/>
          <p:cNvSpPr/>
          <p:nvPr/>
        </p:nvSpPr>
        <p:spPr>
          <a:xfrm>
            <a:off x="7117080" y="4270248"/>
            <a:ext cx="1950720" cy="548640"/>
          </a:xfrm>
          <a:prstGeom prst="rect">
            <a:avLst/>
          </a:prstGeom>
          <a:noFill/>
          <a:ln/>
        </p:spPr>
        <p:txBody>
          <a:bodyPr wrap="square" lIns="0" tIns="0" rIns="0" bIns="0" rtlCol="0" anchor="ctr"/>
          <a:lstStyle/>
          <a:p>
            <a:pPr marL="0" indent="0">
              <a:buNone/>
            </a:pPr>
            <a:r>
              <a:rPr lang="en-US" sz="1300" b="1" dirty="0">
                <a:solidFill>
                  <a:srgbClr val="142338"/>
                </a:solidFill>
                <a:latin typeface="Georgia" pitchFamily="34" charset="0"/>
                <a:ea typeface="Georgia" pitchFamily="34" charset="-122"/>
                <a:cs typeface="Georgia" pitchFamily="34" charset="-120"/>
              </a:rPr>
              <a:t>Chasing invoices and payment</a:t>
            </a:r>
            <a:endParaRPr lang="en-US" sz="1300" dirty="0"/>
          </a:p>
        </p:txBody>
      </p:sp>
      <p:sp>
        <p:nvSpPr>
          <p:cNvPr id="34" name="Text 32"/>
          <p:cNvSpPr/>
          <p:nvPr/>
        </p:nvSpPr>
        <p:spPr>
          <a:xfrm>
            <a:off x="7117080" y="4892040"/>
            <a:ext cx="1950720" cy="1280160"/>
          </a:xfrm>
          <a:prstGeom prst="rect">
            <a:avLst/>
          </a:prstGeom>
          <a:noFill/>
          <a:ln/>
        </p:spPr>
        <p:txBody>
          <a:bodyPr wrap="square" lIns="0" tIns="0" rIns="0" bIns="0" rtlCol="0" anchor="ctr"/>
          <a:lstStyle/>
          <a:p>
            <a:pPr marL="0" indent="0">
              <a:buNone/>
            </a:pPr>
            <a:r>
              <a:rPr lang="en-US" sz="1000" dirty="0">
                <a:solidFill>
                  <a:srgbClr val="6B6B6B"/>
                </a:solidFill>
                <a:latin typeface="Calibri" pitchFamily="34" charset="0"/>
                <a:ea typeface="Calibri" pitchFamily="34" charset="-122"/>
                <a:cs typeface="Calibri" pitchFamily="34" charset="-120"/>
              </a:rPr>
              <a:t>Work ships, but payment lags. Marcus burns hours each month following up, reconciling hours, and re-explaining what was delivered for which milestone.</a:t>
            </a:r>
            <a:endParaRPr lang="en-US" sz="1000" dirty="0"/>
          </a:p>
        </p:txBody>
      </p:sp>
      <p:sp>
        <p:nvSpPr>
          <p:cNvPr id="35" name="Shape 33"/>
          <p:cNvSpPr/>
          <p:nvPr/>
        </p:nvSpPr>
        <p:spPr>
          <a:xfrm>
            <a:off x="9296400" y="3886200"/>
            <a:ext cx="2179320" cy="2331720"/>
          </a:xfrm>
          <a:prstGeom prst="rect">
            <a:avLst/>
          </a:prstGeom>
          <a:solidFill>
            <a:srgbClr val="FFFFFF"/>
          </a:solidFill>
          <a:ln w="12700">
            <a:solidFill>
              <a:srgbClr val="D9D2C2"/>
            </a:solidFill>
            <a:prstDash val="solid"/>
          </a:ln>
        </p:spPr>
        <p:txBody>
          <a:bodyPr/>
          <a:lstStyle/>
          <a:p>
            <a:endParaRPr lang="en-US"/>
          </a:p>
        </p:txBody>
      </p:sp>
      <p:sp>
        <p:nvSpPr>
          <p:cNvPr id="36" name="Shape 34"/>
          <p:cNvSpPr/>
          <p:nvPr/>
        </p:nvSpPr>
        <p:spPr>
          <a:xfrm>
            <a:off x="9296400" y="3886200"/>
            <a:ext cx="54864" cy="2331720"/>
          </a:xfrm>
          <a:prstGeom prst="rect">
            <a:avLst/>
          </a:prstGeom>
          <a:solidFill>
            <a:srgbClr val="FF8C00"/>
          </a:solidFill>
          <a:ln w="12700">
            <a:solidFill>
              <a:srgbClr val="FF8C00"/>
            </a:solidFill>
            <a:prstDash val="solid"/>
          </a:ln>
        </p:spPr>
        <p:txBody>
          <a:bodyPr/>
          <a:lstStyle/>
          <a:p>
            <a:endParaRPr lang="en-US"/>
          </a:p>
        </p:txBody>
      </p:sp>
      <p:sp>
        <p:nvSpPr>
          <p:cNvPr id="37" name="Text 35"/>
          <p:cNvSpPr/>
          <p:nvPr/>
        </p:nvSpPr>
        <p:spPr>
          <a:xfrm>
            <a:off x="9479280" y="4023360"/>
            <a:ext cx="1859280" cy="228600"/>
          </a:xfrm>
          <a:prstGeom prst="rect">
            <a:avLst/>
          </a:prstGeom>
          <a:noFill/>
          <a:ln/>
        </p:spPr>
        <p:txBody>
          <a:bodyPr wrap="square" lIns="0" tIns="0" rIns="0" bIns="0" rtlCol="0" anchor="ctr"/>
          <a:lstStyle/>
          <a:p>
            <a:pPr marL="0" indent="0">
              <a:buNone/>
            </a:pPr>
            <a:r>
              <a:rPr lang="en-US" sz="800" b="1" kern="0" spc="400" dirty="0">
                <a:solidFill>
                  <a:srgbClr val="FF8C00"/>
                </a:solidFill>
                <a:latin typeface="Calibri" pitchFamily="34" charset="0"/>
                <a:ea typeface="Calibri" pitchFamily="34" charset="-122"/>
                <a:cs typeface="Calibri" pitchFamily="34" charset="-120"/>
              </a:rPr>
              <a:t>HIGH</a:t>
            </a:r>
            <a:endParaRPr lang="en-US" sz="800" dirty="0"/>
          </a:p>
        </p:txBody>
      </p:sp>
      <p:sp>
        <p:nvSpPr>
          <p:cNvPr id="38" name="Text 36"/>
          <p:cNvSpPr/>
          <p:nvPr/>
        </p:nvSpPr>
        <p:spPr>
          <a:xfrm>
            <a:off x="9479280" y="4270248"/>
            <a:ext cx="1950720" cy="548640"/>
          </a:xfrm>
          <a:prstGeom prst="rect">
            <a:avLst/>
          </a:prstGeom>
          <a:noFill/>
          <a:ln/>
        </p:spPr>
        <p:txBody>
          <a:bodyPr wrap="square" lIns="0" tIns="0" rIns="0" bIns="0" rtlCol="0" anchor="ctr"/>
          <a:lstStyle/>
          <a:p>
            <a:pPr marL="0" indent="0">
              <a:buNone/>
            </a:pPr>
            <a:r>
              <a:rPr lang="en-US" sz="1300" b="1" dirty="0">
                <a:solidFill>
                  <a:srgbClr val="142338"/>
                </a:solidFill>
                <a:latin typeface="Georgia" pitchFamily="34" charset="0"/>
                <a:ea typeface="Georgia" pitchFamily="34" charset="-122"/>
                <a:cs typeface="Georgia" pitchFamily="34" charset="-120"/>
              </a:rPr>
              <a:t>Context-switching across clients</a:t>
            </a:r>
            <a:endParaRPr lang="en-US" sz="1300" dirty="0"/>
          </a:p>
        </p:txBody>
      </p:sp>
      <p:sp>
        <p:nvSpPr>
          <p:cNvPr id="39" name="Text 37"/>
          <p:cNvSpPr/>
          <p:nvPr/>
        </p:nvSpPr>
        <p:spPr>
          <a:xfrm>
            <a:off x="9479280" y="4892040"/>
            <a:ext cx="1950720" cy="1280160"/>
          </a:xfrm>
          <a:prstGeom prst="rect">
            <a:avLst/>
          </a:prstGeom>
          <a:noFill/>
          <a:ln/>
        </p:spPr>
        <p:txBody>
          <a:bodyPr wrap="square" lIns="0" tIns="0" rIns="0" bIns="0" rtlCol="0" anchor="ctr"/>
          <a:lstStyle/>
          <a:p>
            <a:pPr marL="0" indent="0">
              <a:buNone/>
            </a:pPr>
            <a:r>
              <a:rPr lang="en-US" sz="1000" dirty="0">
                <a:solidFill>
                  <a:srgbClr val="6B6B6B"/>
                </a:solidFill>
                <a:latin typeface="Calibri" pitchFamily="34" charset="0"/>
                <a:ea typeface="Calibri" pitchFamily="34" charset="-122"/>
                <a:cs typeface="Calibri" pitchFamily="34" charset="-120"/>
              </a:rPr>
              <a:t>Juggling 3-6 projects in parallel means constant mental reload. When a client pings him, it takes 20 minutes to remember where they left off.</a:t>
            </a:r>
            <a:endParaRPr lang="en-US" sz="1000" dirty="0"/>
          </a:p>
        </p:txBody>
      </p:sp>
      <p:sp>
        <p:nvSpPr>
          <p:cNvPr id="40" name="Shape 38"/>
          <p:cNvSpPr/>
          <p:nvPr/>
        </p:nvSpPr>
        <p:spPr>
          <a:xfrm>
            <a:off x="640080" y="5989320"/>
            <a:ext cx="10911535" cy="502920"/>
          </a:xfrm>
          <a:prstGeom prst="rect">
            <a:avLst/>
          </a:prstGeom>
          <a:solidFill>
            <a:srgbClr val="EFE9DD"/>
          </a:solidFill>
          <a:ln w="12700">
            <a:solidFill>
              <a:srgbClr val="EFE9DD"/>
            </a:solidFill>
            <a:prstDash val="solid"/>
          </a:ln>
        </p:spPr>
        <p:txBody>
          <a:bodyPr/>
          <a:lstStyle/>
          <a:p>
            <a:endParaRPr lang="en-US"/>
          </a:p>
        </p:txBody>
      </p:sp>
      <p:sp>
        <p:nvSpPr>
          <p:cNvPr id="41" name="Shape 39"/>
          <p:cNvSpPr/>
          <p:nvPr/>
        </p:nvSpPr>
        <p:spPr>
          <a:xfrm>
            <a:off x="640080" y="5989320"/>
            <a:ext cx="54864" cy="502920"/>
          </a:xfrm>
          <a:prstGeom prst="rect">
            <a:avLst/>
          </a:prstGeom>
          <a:solidFill>
            <a:srgbClr val="FF8C00"/>
          </a:solidFill>
          <a:ln w="12700">
            <a:solidFill>
              <a:srgbClr val="FF8C00"/>
            </a:solidFill>
            <a:prstDash val="solid"/>
          </a:ln>
        </p:spPr>
        <p:txBody>
          <a:bodyPr/>
          <a:lstStyle/>
          <a:p>
            <a:endParaRPr lang="en-US"/>
          </a:p>
        </p:txBody>
      </p:sp>
      <p:sp>
        <p:nvSpPr>
          <p:cNvPr id="42" name="Text 40"/>
          <p:cNvSpPr/>
          <p:nvPr/>
        </p:nvSpPr>
        <p:spPr>
          <a:xfrm>
            <a:off x="868680" y="5989320"/>
            <a:ext cx="10637215" cy="502920"/>
          </a:xfrm>
          <a:prstGeom prst="rect">
            <a:avLst/>
          </a:prstGeom>
          <a:noFill/>
          <a:ln/>
        </p:spPr>
        <p:txBody>
          <a:bodyPr wrap="square" lIns="0" tIns="0" rIns="0" bIns="0" rtlCol="0" anchor="ctr"/>
          <a:lstStyle/>
          <a:p>
            <a:pPr marL="0" indent="0">
              <a:buNone/>
            </a:pPr>
            <a:r>
              <a:rPr lang="en-US" sz="1300" i="1" dirty="0">
                <a:solidFill>
                  <a:srgbClr val="142338"/>
                </a:solidFill>
                <a:latin typeface="Georgia" pitchFamily="34" charset="0"/>
                <a:ea typeface="Georgia" pitchFamily="34" charset="-122"/>
                <a:cs typeface="Georgia" pitchFamily="34" charset="-120"/>
              </a:rPr>
              <a:t>"Every hour I spend hunting through Slack threads to figure out what I owe a client is an hour I'm not getting paid for."</a:t>
            </a:r>
            <a:endParaRPr lang="en-US" sz="1300" dirty="0"/>
          </a:p>
        </p:txBody>
      </p:sp>
      <p:sp>
        <p:nvSpPr>
          <p:cNvPr id="43" name="Text 41"/>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1000" b="1" dirty="0">
                <a:solidFill>
                  <a:srgbClr val="6B6B6B"/>
                </a:solidFill>
                <a:latin typeface="Calibri" pitchFamily="34" charset="0"/>
                <a:ea typeface="Calibri" pitchFamily="34" charset="-122"/>
                <a:cs typeface="Calibri" pitchFamily="34" charset="-120"/>
              </a:rPr>
              <a:t>04 / 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11323015" y="411480"/>
            <a:ext cx="457200" cy="457200"/>
          </a:xfrm>
          <a:prstGeom prst="rect">
            <a:avLst/>
          </a:prstGeom>
          <a:solidFill>
            <a:srgbClr val="FF8C00"/>
          </a:solidFill>
          <a:ln w="12700">
            <a:solidFill>
              <a:srgbClr val="FF8C00"/>
            </a:solidFill>
            <a:prstDash val="solid"/>
          </a:ln>
        </p:spPr>
        <p:txBody>
          <a:bodyPr/>
          <a:lstStyle/>
          <a:p>
            <a:endParaRPr lang="en-US"/>
          </a:p>
        </p:txBody>
      </p:sp>
      <p:sp>
        <p:nvSpPr>
          <p:cNvPr id="3" name="Text 1"/>
          <p:cNvSpPr/>
          <p:nvPr/>
        </p:nvSpPr>
        <p:spPr>
          <a:xfrm>
            <a:off x="11323015" y="411480"/>
            <a:ext cx="457200" cy="457200"/>
          </a:xfrm>
          <a:prstGeom prst="rect">
            <a:avLst/>
          </a:prstGeom>
          <a:noFill/>
          <a:ln/>
        </p:spPr>
        <p:txBody>
          <a:bodyPr wrap="square" lIns="0" tIns="0" rIns="0" bIns="0" rtlCol="0" anchor="ctr"/>
          <a:lstStyle/>
          <a:p>
            <a:pPr marL="0" indent="0" algn="ctr">
              <a:buNone/>
            </a:pPr>
            <a:r>
              <a:rPr lang="en-US" sz="1600" b="1" dirty="0">
                <a:solidFill>
                  <a:srgbClr val="142338"/>
                </a:solidFill>
                <a:latin typeface="Georgia" pitchFamily="34" charset="0"/>
                <a:ea typeface="Georgia" pitchFamily="34" charset="-122"/>
                <a:cs typeface="Georgia" pitchFamily="34" charset="-120"/>
              </a:rPr>
              <a:t>H9</a:t>
            </a:r>
            <a:endParaRPr lang="en-US" sz="1600" dirty="0"/>
          </a:p>
        </p:txBody>
      </p:sp>
      <p:sp>
        <p:nvSpPr>
          <p:cNvPr id="4" name="Text 2"/>
          <p:cNvSpPr/>
          <p:nvPr/>
        </p:nvSpPr>
        <p:spPr>
          <a:xfrm>
            <a:off x="640080" y="502920"/>
            <a:ext cx="7315200" cy="274320"/>
          </a:xfrm>
          <a:prstGeom prst="rect">
            <a:avLst/>
          </a:prstGeom>
          <a:noFill/>
          <a:ln/>
        </p:spPr>
        <p:txBody>
          <a:bodyPr wrap="square" lIns="0" tIns="0" rIns="0" bIns="0" rtlCol="0" anchor="ctr"/>
          <a:lstStyle/>
          <a:p>
            <a:pPr marL="0" indent="0">
              <a:buNone/>
            </a:pPr>
            <a:r>
              <a:rPr lang="en-US" sz="1100" b="1" kern="0" spc="600" dirty="0">
                <a:solidFill>
                  <a:srgbClr val="FF8C00"/>
                </a:solidFill>
                <a:latin typeface="Calibri" pitchFamily="34" charset="0"/>
                <a:ea typeface="Calibri" pitchFamily="34" charset="-122"/>
                <a:cs typeface="Calibri" pitchFamily="34" charset="-120"/>
              </a:rPr>
              <a:t>PERSONA 02  •  THE OVERSEER</a:t>
            </a:r>
            <a:endParaRPr lang="en-US" sz="1100" dirty="0"/>
          </a:p>
        </p:txBody>
      </p:sp>
      <p:sp>
        <p:nvSpPr>
          <p:cNvPr id="5" name="Text 3"/>
          <p:cNvSpPr/>
          <p:nvPr/>
        </p:nvSpPr>
        <p:spPr>
          <a:xfrm>
            <a:off x="640080" y="868680"/>
            <a:ext cx="10515600" cy="640080"/>
          </a:xfrm>
          <a:prstGeom prst="rect">
            <a:avLst/>
          </a:prstGeom>
          <a:noFill/>
          <a:ln/>
        </p:spPr>
        <p:txBody>
          <a:bodyPr wrap="square" lIns="0" tIns="0" rIns="0" bIns="0" rtlCol="0" anchor="ctr"/>
          <a:lstStyle/>
          <a:p>
            <a:pPr marL="0" indent="0">
              <a:buNone/>
            </a:pPr>
            <a:r>
              <a:rPr lang="en-US" sz="3200" b="1" dirty="0">
                <a:solidFill>
                  <a:srgbClr val="142338"/>
                </a:solidFill>
                <a:latin typeface="Georgia" pitchFamily="34" charset="0"/>
                <a:ea typeface="Georgia" pitchFamily="34" charset="-122"/>
                <a:cs typeface="Georgia" pitchFamily="34" charset="-120"/>
              </a:rPr>
              <a:t>Linda Reyes — Project Owner</a:t>
            </a:r>
            <a:endParaRPr lang="en-US" sz="3200" dirty="0"/>
          </a:p>
        </p:txBody>
      </p:sp>
      <p:sp>
        <p:nvSpPr>
          <p:cNvPr id="6" name="Text 4"/>
          <p:cNvSpPr/>
          <p:nvPr/>
        </p:nvSpPr>
        <p:spPr>
          <a:xfrm>
            <a:off x="640080" y="1463040"/>
            <a:ext cx="10515600" cy="457200"/>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The operations leader accountable for delivery across her team.</a:t>
            </a:r>
            <a:endParaRPr lang="en-US" sz="1400" dirty="0"/>
          </a:p>
        </p:txBody>
      </p:sp>
      <p:sp>
        <p:nvSpPr>
          <p:cNvPr id="7" name="Shape 5"/>
          <p:cNvSpPr/>
          <p:nvPr/>
        </p:nvSpPr>
        <p:spPr>
          <a:xfrm>
            <a:off x="640080" y="2194560"/>
            <a:ext cx="3657600" cy="4206240"/>
          </a:xfrm>
          <a:prstGeom prst="rect">
            <a:avLst/>
          </a:prstGeom>
          <a:solidFill>
            <a:srgbClr val="142338"/>
          </a:solidFill>
          <a:ln w="12700">
            <a:solidFill>
              <a:srgbClr val="142338"/>
            </a:solidFill>
            <a:prstDash val="solid"/>
          </a:ln>
        </p:spPr>
        <p:txBody>
          <a:bodyPr/>
          <a:lstStyle/>
          <a:p>
            <a:endParaRPr lang="en-US"/>
          </a:p>
        </p:txBody>
      </p:sp>
      <p:sp>
        <p:nvSpPr>
          <p:cNvPr id="8" name="Shape 6"/>
          <p:cNvSpPr/>
          <p:nvPr/>
        </p:nvSpPr>
        <p:spPr>
          <a:xfrm>
            <a:off x="640080" y="2194560"/>
            <a:ext cx="73152" cy="4206240"/>
          </a:xfrm>
          <a:prstGeom prst="rect">
            <a:avLst/>
          </a:prstGeom>
          <a:solidFill>
            <a:srgbClr val="FF8C00"/>
          </a:solidFill>
          <a:ln w="12700">
            <a:solidFill>
              <a:srgbClr val="FF8C00"/>
            </a:solidFill>
            <a:prstDash val="solid"/>
          </a:ln>
        </p:spPr>
        <p:txBody>
          <a:bodyPr/>
          <a:lstStyle/>
          <a:p>
            <a:endParaRPr lang="en-US"/>
          </a:p>
        </p:txBody>
      </p:sp>
      <p:sp>
        <p:nvSpPr>
          <p:cNvPr id="9" name="Shape 7"/>
          <p:cNvSpPr/>
          <p:nvPr/>
        </p:nvSpPr>
        <p:spPr>
          <a:xfrm>
            <a:off x="1005840" y="2514600"/>
            <a:ext cx="914400" cy="914400"/>
          </a:xfrm>
          <a:prstGeom prst="ellipse">
            <a:avLst/>
          </a:prstGeom>
          <a:solidFill>
            <a:srgbClr val="FF8C00"/>
          </a:solidFill>
          <a:ln w="12700">
            <a:solidFill>
              <a:srgbClr val="FF8C00"/>
            </a:solidFill>
            <a:prstDash val="solid"/>
          </a:ln>
        </p:spPr>
        <p:txBody>
          <a:bodyPr/>
          <a:lstStyle/>
          <a:p>
            <a:endParaRPr lang="en-US"/>
          </a:p>
        </p:txBody>
      </p:sp>
      <p:sp>
        <p:nvSpPr>
          <p:cNvPr id="10" name="Text 8"/>
          <p:cNvSpPr/>
          <p:nvPr/>
        </p:nvSpPr>
        <p:spPr>
          <a:xfrm>
            <a:off x="1005840" y="2514600"/>
            <a:ext cx="914400" cy="914400"/>
          </a:xfrm>
          <a:prstGeom prst="rect">
            <a:avLst/>
          </a:prstGeom>
          <a:noFill/>
          <a:ln/>
        </p:spPr>
        <p:txBody>
          <a:bodyPr wrap="square" lIns="0" tIns="0" rIns="0" bIns="0" rtlCol="0" anchor="ctr"/>
          <a:lstStyle/>
          <a:p>
            <a:pPr marL="0" indent="0" algn="ctr">
              <a:buNone/>
            </a:pPr>
            <a:r>
              <a:rPr lang="en-US" sz="2800" b="1" dirty="0">
                <a:solidFill>
                  <a:srgbClr val="142338"/>
                </a:solidFill>
                <a:latin typeface="Georgia" pitchFamily="34" charset="0"/>
                <a:ea typeface="Georgia" pitchFamily="34" charset="-122"/>
                <a:cs typeface="Georgia" pitchFamily="34" charset="-120"/>
              </a:rPr>
              <a:t>LR</a:t>
            </a:r>
            <a:endParaRPr lang="en-US" sz="2800" dirty="0"/>
          </a:p>
        </p:txBody>
      </p:sp>
      <p:sp>
        <p:nvSpPr>
          <p:cNvPr id="11" name="Text 9"/>
          <p:cNvSpPr/>
          <p:nvPr/>
        </p:nvSpPr>
        <p:spPr>
          <a:xfrm>
            <a:off x="2057400" y="2560320"/>
            <a:ext cx="2103120" cy="411480"/>
          </a:xfrm>
          <a:prstGeom prst="rect">
            <a:avLst/>
          </a:prstGeom>
          <a:noFill/>
          <a:ln/>
        </p:spPr>
        <p:txBody>
          <a:bodyPr wrap="square" lIns="0" tIns="0" rIns="0" bIns="0" rtlCol="0" anchor="ctr"/>
          <a:lstStyle/>
          <a:p>
            <a:pPr marL="0" indent="0">
              <a:buNone/>
            </a:pPr>
            <a:r>
              <a:rPr lang="en-US" sz="1800" b="1" dirty="0">
                <a:solidFill>
                  <a:srgbClr val="FAF8F4"/>
                </a:solidFill>
                <a:latin typeface="Georgia" pitchFamily="34" charset="0"/>
                <a:ea typeface="Georgia" pitchFamily="34" charset="-122"/>
                <a:cs typeface="Georgia" pitchFamily="34" charset="-120"/>
              </a:rPr>
              <a:t>Linda Reyes</a:t>
            </a:r>
            <a:endParaRPr lang="en-US" sz="1800" dirty="0"/>
          </a:p>
        </p:txBody>
      </p:sp>
      <p:sp>
        <p:nvSpPr>
          <p:cNvPr id="12" name="Text 10"/>
          <p:cNvSpPr/>
          <p:nvPr/>
        </p:nvSpPr>
        <p:spPr>
          <a:xfrm>
            <a:off x="2057400" y="2999232"/>
            <a:ext cx="2103120" cy="411480"/>
          </a:xfrm>
          <a:prstGeom prst="rect">
            <a:avLst/>
          </a:prstGeom>
          <a:noFill/>
          <a:ln/>
        </p:spPr>
        <p:txBody>
          <a:bodyPr wrap="square" lIns="0" tIns="0" rIns="0" bIns="0" rtlCol="0" anchor="ctr"/>
          <a:lstStyle/>
          <a:p>
            <a:pPr marL="0" indent="0">
              <a:buNone/>
            </a:pPr>
            <a:r>
              <a:rPr lang="en-US" sz="1100" dirty="0">
                <a:solidFill>
                  <a:srgbClr val="FFB347"/>
                </a:solidFill>
                <a:latin typeface="Calibri" pitchFamily="34" charset="0"/>
                <a:ea typeface="Calibri" pitchFamily="34" charset="-122"/>
                <a:cs typeface="Calibri" pitchFamily="34" charset="-120"/>
              </a:rPr>
              <a:t>Operations Director, Services Firm</a:t>
            </a:r>
            <a:endParaRPr lang="en-US" sz="1100" dirty="0"/>
          </a:p>
        </p:txBody>
      </p:sp>
      <p:sp>
        <p:nvSpPr>
          <p:cNvPr id="13" name="Text 11"/>
          <p:cNvSpPr/>
          <p:nvPr/>
        </p:nvSpPr>
        <p:spPr>
          <a:xfrm>
            <a:off x="914400" y="3749040"/>
            <a:ext cx="1371600" cy="228600"/>
          </a:xfrm>
          <a:prstGeom prst="rect">
            <a:avLst/>
          </a:prstGeom>
          <a:noFill/>
          <a:ln/>
        </p:spPr>
        <p:txBody>
          <a:bodyPr wrap="square" lIns="0" tIns="0" rIns="0" bIns="0" rtlCol="0" anchor="ctr"/>
          <a:lstStyle/>
          <a:p>
            <a:pPr marL="0" indent="0">
              <a:buNone/>
            </a:pPr>
            <a:r>
              <a:rPr lang="en-US" sz="900" b="1" kern="0" spc="400" dirty="0">
                <a:solidFill>
                  <a:srgbClr val="FF8C00"/>
                </a:solidFill>
                <a:latin typeface="Calibri" pitchFamily="34" charset="0"/>
                <a:ea typeface="Calibri" pitchFamily="34" charset="-122"/>
                <a:cs typeface="Calibri" pitchFamily="34" charset="-120"/>
              </a:rPr>
              <a:t>AGE</a:t>
            </a:r>
            <a:endParaRPr lang="en-US" sz="900" dirty="0"/>
          </a:p>
        </p:txBody>
      </p:sp>
      <p:sp>
        <p:nvSpPr>
          <p:cNvPr id="14" name="Text 12"/>
          <p:cNvSpPr/>
          <p:nvPr/>
        </p:nvSpPr>
        <p:spPr>
          <a:xfrm>
            <a:off x="914400" y="3977640"/>
            <a:ext cx="3200400" cy="292608"/>
          </a:xfrm>
          <a:prstGeom prst="rect">
            <a:avLst/>
          </a:prstGeom>
          <a:noFill/>
          <a:ln/>
        </p:spPr>
        <p:txBody>
          <a:bodyPr wrap="square" lIns="0" tIns="0" rIns="0" bIns="0" rtlCol="0" anchor="ctr"/>
          <a:lstStyle/>
          <a:p>
            <a:pPr marL="0" indent="0">
              <a:buNone/>
            </a:pPr>
            <a:r>
              <a:rPr lang="en-US" sz="1200" dirty="0">
                <a:solidFill>
                  <a:srgbClr val="FAF8F4"/>
                </a:solidFill>
                <a:latin typeface="Calibri" pitchFamily="34" charset="0"/>
                <a:ea typeface="Calibri" pitchFamily="34" charset="-122"/>
                <a:cs typeface="Calibri" pitchFamily="34" charset="-120"/>
              </a:rPr>
              <a:t>47</a:t>
            </a:r>
            <a:endParaRPr lang="en-US" sz="1200" dirty="0"/>
          </a:p>
        </p:txBody>
      </p:sp>
      <p:sp>
        <p:nvSpPr>
          <p:cNvPr id="15" name="Text 13"/>
          <p:cNvSpPr/>
          <p:nvPr/>
        </p:nvSpPr>
        <p:spPr>
          <a:xfrm>
            <a:off x="914400" y="4315968"/>
            <a:ext cx="1371600" cy="228600"/>
          </a:xfrm>
          <a:prstGeom prst="rect">
            <a:avLst/>
          </a:prstGeom>
          <a:noFill/>
          <a:ln/>
        </p:spPr>
        <p:txBody>
          <a:bodyPr wrap="square" lIns="0" tIns="0" rIns="0" bIns="0" rtlCol="0" anchor="ctr"/>
          <a:lstStyle/>
          <a:p>
            <a:pPr marL="0" indent="0">
              <a:buNone/>
            </a:pPr>
            <a:r>
              <a:rPr lang="en-US" sz="900" b="1" kern="0" spc="400" dirty="0">
                <a:solidFill>
                  <a:srgbClr val="FF8C00"/>
                </a:solidFill>
                <a:latin typeface="Calibri" pitchFamily="34" charset="0"/>
                <a:ea typeface="Calibri" pitchFamily="34" charset="-122"/>
                <a:cs typeface="Calibri" pitchFamily="34" charset="-120"/>
              </a:rPr>
              <a:t>LOCATION</a:t>
            </a:r>
            <a:endParaRPr lang="en-US" sz="900" dirty="0"/>
          </a:p>
        </p:txBody>
      </p:sp>
      <p:sp>
        <p:nvSpPr>
          <p:cNvPr id="16" name="Text 14"/>
          <p:cNvSpPr/>
          <p:nvPr/>
        </p:nvSpPr>
        <p:spPr>
          <a:xfrm>
            <a:off x="914400" y="4544568"/>
            <a:ext cx="3200400" cy="292608"/>
          </a:xfrm>
          <a:prstGeom prst="rect">
            <a:avLst/>
          </a:prstGeom>
          <a:noFill/>
          <a:ln/>
        </p:spPr>
        <p:txBody>
          <a:bodyPr wrap="square" lIns="0" tIns="0" rIns="0" bIns="0" rtlCol="0" anchor="ctr"/>
          <a:lstStyle/>
          <a:p>
            <a:pPr marL="0" indent="0">
              <a:buNone/>
            </a:pPr>
            <a:r>
              <a:rPr lang="en-US" sz="1200" dirty="0">
                <a:solidFill>
                  <a:srgbClr val="FAF8F4"/>
                </a:solidFill>
                <a:latin typeface="Calibri" pitchFamily="34" charset="0"/>
                <a:ea typeface="Calibri" pitchFamily="34" charset="-122"/>
                <a:cs typeface="Calibri" pitchFamily="34" charset="-120"/>
              </a:rPr>
              <a:t>Miami, FL</a:t>
            </a:r>
            <a:endParaRPr lang="en-US" sz="1200" dirty="0"/>
          </a:p>
        </p:txBody>
      </p:sp>
      <p:sp>
        <p:nvSpPr>
          <p:cNvPr id="17" name="Text 15"/>
          <p:cNvSpPr/>
          <p:nvPr/>
        </p:nvSpPr>
        <p:spPr>
          <a:xfrm>
            <a:off x="914400" y="4882896"/>
            <a:ext cx="1371600" cy="228600"/>
          </a:xfrm>
          <a:prstGeom prst="rect">
            <a:avLst/>
          </a:prstGeom>
          <a:noFill/>
          <a:ln/>
        </p:spPr>
        <p:txBody>
          <a:bodyPr wrap="square" lIns="0" tIns="0" rIns="0" bIns="0" rtlCol="0" anchor="ctr"/>
          <a:lstStyle/>
          <a:p>
            <a:pPr marL="0" indent="0">
              <a:buNone/>
            </a:pPr>
            <a:r>
              <a:rPr lang="en-US" sz="900" b="1" kern="0" spc="400" dirty="0">
                <a:solidFill>
                  <a:srgbClr val="FF8C00"/>
                </a:solidFill>
                <a:latin typeface="Calibri" pitchFamily="34" charset="0"/>
                <a:ea typeface="Calibri" pitchFamily="34" charset="-122"/>
                <a:cs typeface="Calibri" pitchFamily="34" charset="-120"/>
              </a:rPr>
              <a:t>TECH COMFORT</a:t>
            </a:r>
            <a:endParaRPr lang="en-US" sz="900" dirty="0"/>
          </a:p>
        </p:txBody>
      </p:sp>
      <p:sp>
        <p:nvSpPr>
          <p:cNvPr id="18" name="Text 16"/>
          <p:cNvSpPr/>
          <p:nvPr/>
        </p:nvSpPr>
        <p:spPr>
          <a:xfrm>
            <a:off x="914400" y="5111496"/>
            <a:ext cx="3200400" cy="292608"/>
          </a:xfrm>
          <a:prstGeom prst="rect">
            <a:avLst/>
          </a:prstGeom>
          <a:noFill/>
          <a:ln/>
        </p:spPr>
        <p:txBody>
          <a:bodyPr wrap="square" lIns="0" tIns="0" rIns="0" bIns="0" rtlCol="0" anchor="ctr"/>
          <a:lstStyle/>
          <a:p>
            <a:pPr marL="0" indent="0">
              <a:buNone/>
            </a:pPr>
            <a:r>
              <a:rPr lang="en-US" sz="1200" dirty="0">
                <a:solidFill>
                  <a:srgbClr val="FAF8F4"/>
                </a:solidFill>
                <a:latin typeface="Calibri" pitchFamily="34" charset="0"/>
                <a:ea typeface="Calibri" pitchFamily="34" charset="-122"/>
                <a:cs typeface="Calibri" pitchFamily="34" charset="-120"/>
              </a:rPr>
              <a:t>Moderate — strong with spreadsheets</a:t>
            </a:r>
            <a:endParaRPr lang="en-US" sz="1200" dirty="0"/>
          </a:p>
        </p:txBody>
      </p:sp>
      <p:sp>
        <p:nvSpPr>
          <p:cNvPr id="19" name="Text 17"/>
          <p:cNvSpPr/>
          <p:nvPr/>
        </p:nvSpPr>
        <p:spPr>
          <a:xfrm>
            <a:off x="914400" y="5449824"/>
            <a:ext cx="1371600" cy="228600"/>
          </a:xfrm>
          <a:prstGeom prst="rect">
            <a:avLst/>
          </a:prstGeom>
          <a:noFill/>
          <a:ln/>
        </p:spPr>
        <p:txBody>
          <a:bodyPr wrap="square" lIns="0" tIns="0" rIns="0" bIns="0" rtlCol="0" anchor="ctr"/>
          <a:lstStyle/>
          <a:p>
            <a:pPr marL="0" indent="0">
              <a:buNone/>
            </a:pPr>
            <a:r>
              <a:rPr lang="en-US" sz="900" b="1" kern="0" spc="400" dirty="0">
                <a:solidFill>
                  <a:srgbClr val="FF8C00"/>
                </a:solidFill>
                <a:latin typeface="Calibri" pitchFamily="34" charset="0"/>
                <a:ea typeface="Calibri" pitchFamily="34" charset="-122"/>
                <a:cs typeface="Calibri" pitchFamily="34" charset="-120"/>
              </a:rPr>
              <a:t>CONTRACTS</a:t>
            </a:r>
            <a:endParaRPr lang="en-US" sz="900" dirty="0"/>
          </a:p>
        </p:txBody>
      </p:sp>
      <p:sp>
        <p:nvSpPr>
          <p:cNvPr id="20" name="Text 18"/>
          <p:cNvSpPr/>
          <p:nvPr/>
        </p:nvSpPr>
        <p:spPr>
          <a:xfrm>
            <a:off x="914400" y="5678424"/>
            <a:ext cx="3200400" cy="292608"/>
          </a:xfrm>
          <a:prstGeom prst="rect">
            <a:avLst/>
          </a:prstGeom>
          <a:noFill/>
          <a:ln/>
        </p:spPr>
        <p:txBody>
          <a:bodyPr wrap="square" lIns="0" tIns="0" rIns="0" bIns="0" rtlCol="0" anchor="ctr"/>
          <a:lstStyle/>
          <a:p>
            <a:pPr marL="0" indent="0">
              <a:buNone/>
            </a:pPr>
            <a:r>
              <a:rPr lang="en-US" sz="1200" dirty="0">
                <a:solidFill>
                  <a:srgbClr val="FAF8F4"/>
                </a:solidFill>
                <a:latin typeface="Calibri" pitchFamily="34" charset="0"/>
                <a:ea typeface="Calibri" pitchFamily="34" charset="-122"/>
                <a:cs typeface="Calibri" pitchFamily="34" charset="-120"/>
              </a:rPr>
              <a:t>Oversees 10-20 across team</a:t>
            </a:r>
            <a:endParaRPr lang="en-US" sz="1200" dirty="0"/>
          </a:p>
        </p:txBody>
      </p:sp>
      <p:sp>
        <p:nvSpPr>
          <p:cNvPr id="21" name="Shape 19"/>
          <p:cNvSpPr/>
          <p:nvPr/>
        </p:nvSpPr>
        <p:spPr>
          <a:xfrm>
            <a:off x="914400" y="6355080"/>
            <a:ext cx="3108960" cy="18288"/>
          </a:xfrm>
          <a:prstGeom prst="rect">
            <a:avLst/>
          </a:prstGeom>
          <a:solidFill>
            <a:srgbClr val="FF8C00"/>
          </a:solidFill>
          <a:ln w="12700">
            <a:solidFill>
              <a:srgbClr val="FF8C00"/>
            </a:solidFill>
            <a:prstDash val="solid"/>
          </a:ln>
        </p:spPr>
        <p:txBody>
          <a:bodyPr/>
          <a:lstStyle/>
          <a:p>
            <a:endParaRPr lang="en-US"/>
          </a:p>
        </p:txBody>
      </p:sp>
      <p:sp>
        <p:nvSpPr>
          <p:cNvPr id="22" name="Text 20"/>
          <p:cNvSpPr/>
          <p:nvPr/>
        </p:nvSpPr>
        <p:spPr>
          <a:xfrm>
            <a:off x="4572000" y="2194560"/>
            <a:ext cx="3657600" cy="274320"/>
          </a:xfrm>
          <a:prstGeom prst="rect">
            <a:avLst/>
          </a:prstGeom>
          <a:noFill/>
          <a:ln/>
        </p:spPr>
        <p:txBody>
          <a:bodyPr wrap="square" lIns="0" tIns="0" rIns="0" bIns="0" rtlCol="0" anchor="ctr"/>
          <a:lstStyle/>
          <a:p>
            <a:pPr marL="0" indent="0">
              <a:buNone/>
            </a:pPr>
            <a:r>
              <a:rPr lang="en-US" sz="1000" b="1" kern="0" spc="600" dirty="0">
                <a:solidFill>
                  <a:srgbClr val="FF8C00"/>
                </a:solidFill>
                <a:latin typeface="Calibri" pitchFamily="34" charset="0"/>
                <a:ea typeface="Calibri" pitchFamily="34" charset="-122"/>
                <a:cs typeface="Calibri" pitchFamily="34" charset="-120"/>
              </a:rPr>
              <a:t>GOALS</a:t>
            </a:r>
            <a:endParaRPr lang="en-US" sz="1000" dirty="0"/>
          </a:p>
        </p:txBody>
      </p:sp>
      <p:sp>
        <p:nvSpPr>
          <p:cNvPr id="23" name="Text 21"/>
          <p:cNvSpPr/>
          <p:nvPr/>
        </p:nvSpPr>
        <p:spPr>
          <a:xfrm>
            <a:off x="4572000" y="2487168"/>
            <a:ext cx="6949440"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Know the real status of every active engagement at any moment</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Catch problems before clients escalate to her</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Spend less of her week in status meetings</a:t>
            </a:r>
            <a:endParaRPr lang="en-US" sz="1200" dirty="0"/>
          </a:p>
        </p:txBody>
      </p:sp>
      <p:sp>
        <p:nvSpPr>
          <p:cNvPr id="24" name="Text 22"/>
          <p:cNvSpPr/>
          <p:nvPr/>
        </p:nvSpPr>
        <p:spPr>
          <a:xfrm>
            <a:off x="4572000" y="3520440"/>
            <a:ext cx="6400800" cy="274320"/>
          </a:xfrm>
          <a:prstGeom prst="rect">
            <a:avLst/>
          </a:prstGeom>
          <a:noFill/>
          <a:ln/>
        </p:spPr>
        <p:txBody>
          <a:bodyPr wrap="square" lIns="0" tIns="0" rIns="0" bIns="0" rtlCol="0" anchor="ctr"/>
          <a:lstStyle/>
          <a:p>
            <a:pPr marL="0" indent="0">
              <a:buNone/>
            </a:pPr>
            <a:r>
              <a:rPr lang="en-US" sz="1000" b="1" kern="0" spc="600" dirty="0">
                <a:solidFill>
                  <a:srgbClr val="FF8C00"/>
                </a:solidFill>
                <a:latin typeface="Calibri" pitchFamily="34" charset="0"/>
                <a:ea typeface="Calibri" pitchFamily="34" charset="-122"/>
                <a:cs typeface="Calibri" pitchFamily="34" charset="-120"/>
              </a:rPr>
              <a:t>DAY-TO-DAY PAIN POINTS</a:t>
            </a:r>
            <a:endParaRPr lang="en-US" sz="1000" dirty="0"/>
          </a:p>
        </p:txBody>
      </p:sp>
      <p:sp>
        <p:nvSpPr>
          <p:cNvPr id="25" name="Shape 23"/>
          <p:cNvSpPr/>
          <p:nvPr/>
        </p:nvSpPr>
        <p:spPr>
          <a:xfrm>
            <a:off x="4572000" y="3886200"/>
            <a:ext cx="2179320" cy="2331720"/>
          </a:xfrm>
          <a:prstGeom prst="rect">
            <a:avLst/>
          </a:prstGeom>
          <a:solidFill>
            <a:srgbClr val="FFFFFF"/>
          </a:solidFill>
          <a:ln w="12700">
            <a:solidFill>
              <a:srgbClr val="D9D2C2"/>
            </a:solidFill>
            <a:prstDash val="solid"/>
          </a:ln>
        </p:spPr>
        <p:txBody>
          <a:bodyPr/>
          <a:lstStyle/>
          <a:p>
            <a:endParaRPr lang="en-US"/>
          </a:p>
        </p:txBody>
      </p:sp>
      <p:sp>
        <p:nvSpPr>
          <p:cNvPr id="26" name="Shape 24"/>
          <p:cNvSpPr/>
          <p:nvPr/>
        </p:nvSpPr>
        <p:spPr>
          <a:xfrm>
            <a:off x="4572000" y="3886200"/>
            <a:ext cx="54864" cy="2331720"/>
          </a:xfrm>
          <a:prstGeom prst="rect">
            <a:avLst/>
          </a:prstGeom>
          <a:solidFill>
            <a:srgbClr val="C0392B"/>
          </a:solidFill>
          <a:ln w="12700">
            <a:solidFill>
              <a:srgbClr val="C0392B"/>
            </a:solidFill>
            <a:prstDash val="solid"/>
          </a:ln>
        </p:spPr>
        <p:txBody>
          <a:bodyPr/>
          <a:lstStyle/>
          <a:p>
            <a:endParaRPr lang="en-US"/>
          </a:p>
        </p:txBody>
      </p:sp>
      <p:sp>
        <p:nvSpPr>
          <p:cNvPr id="27" name="Text 25"/>
          <p:cNvSpPr/>
          <p:nvPr/>
        </p:nvSpPr>
        <p:spPr>
          <a:xfrm>
            <a:off x="4754880" y="4023360"/>
            <a:ext cx="1859280" cy="228600"/>
          </a:xfrm>
          <a:prstGeom prst="rect">
            <a:avLst/>
          </a:prstGeom>
          <a:noFill/>
          <a:ln/>
        </p:spPr>
        <p:txBody>
          <a:bodyPr wrap="square" lIns="0" tIns="0" rIns="0" bIns="0" rtlCol="0" anchor="ctr"/>
          <a:lstStyle/>
          <a:p>
            <a:pPr marL="0" indent="0">
              <a:buNone/>
            </a:pPr>
            <a:r>
              <a:rPr lang="en-US" sz="800" b="1" kern="0" spc="400" dirty="0">
                <a:solidFill>
                  <a:srgbClr val="C0392B"/>
                </a:solidFill>
                <a:latin typeface="Calibri" pitchFamily="34" charset="0"/>
                <a:ea typeface="Calibri" pitchFamily="34" charset="-122"/>
                <a:cs typeface="Calibri" pitchFamily="34" charset="-120"/>
              </a:rPr>
              <a:t>CRITICAL</a:t>
            </a:r>
            <a:endParaRPr lang="en-US" sz="800" dirty="0"/>
          </a:p>
        </p:txBody>
      </p:sp>
      <p:sp>
        <p:nvSpPr>
          <p:cNvPr id="28" name="Text 26"/>
          <p:cNvSpPr/>
          <p:nvPr/>
        </p:nvSpPr>
        <p:spPr>
          <a:xfrm>
            <a:off x="4754880" y="4270248"/>
            <a:ext cx="1950720" cy="548640"/>
          </a:xfrm>
          <a:prstGeom prst="rect">
            <a:avLst/>
          </a:prstGeom>
          <a:noFill/>
          <a:ln/>
        </p:spPr>
        <p:txBody>
          <a:bodyPr wrap="square" lIns="0" tIns="0" rIns="0" bIns="0" rtlCol="0" anchor="ctr"/>
          <a:lstStyle/>
          <a:p>
            <a:pPr marL="0" indent="0">
              <a:buNone/>
            </a:pPr>
            <a:r>
              <a:rPr lang="en-US" sz="1300" b="1" dirty="0">
                <a:solidFill>
                  <a:srgbClr val="142338"/>
                </a:solidFill>
                <a:latin typeface="Georgia" pitchFamily="34" charset="0"/>
                <a:ea typeface="Georgia" pitchFamily="34" charset="-122"/>
                <a:cs typeface="Georgia" pitchFamily="34" charset="-120"/>
              </a:rPr>
              <a:t>Status updates live in 14 places</a:t>
            </a:r>
            <a:endParaRPr lang="en-US" sz="1300" dirty="0"/>
          </a:p>
        </p:txBody>
      </p:sp>
      <p:sp>
        <p:nvSpPr>
          <p:cNvPr id="29" name="Text 27"/>
          <p:cNvSpPr/>
          <p:nvPr/>
        </p:nvSpPr>
        <p:spPr>
          <a:xfrm>
            <a:off x="4754880" y="4892040"/>
            <a:ext cx="1950720" cy="1280160"/>
          </a:xfrm>
          <a:prstGeom prst="rect">
            <a:avLst/>
          </a:prstGeom>
          <a:noFill/>
          <a:ln/>
        </p:spPr>
        <p:txBody>
          <a:bodyPr wrap="square" lIns="0" tIns="0" rIns="0" bIns="0" rtlCol="0" anchor="ctr"/>
          <a:lstStyle/>
          <a:p>
            <a:pPr marL="0" indent="0">
              <a:buNone/>
            </a:pPr>
            <a:r>
              <a:rPr lang="en-US" sz="1000" dirty="0">
                <a:solidFill>
                  <a:srgbClr val="6B6B6B"/>
                </a:solidFill>
                <a:latin typeface="Calibri" pitchFamily="34" charset="0"/>
                <a:ea typeface="Calibri" pitchFamily="34" charset="-122"/>
                <a:cs typeface="Calibri" pitchFamily="34" charset="-120"/>
              </a:rPr>
              <a:t>Her team's progress is scattered across Slack DMs, email threads, spreadsheets, and weekly standups. Pulling a real picture means chasing every contractor individually.</a:t>
            </a:r>
            <a:endParaRPr lang="en-US" sz="1000" dirty="0"/>
          </a:p>
        </p:txBody>
      </p:sp>
      <p:sp>
        <p:nvSpPr>
          <p:cNvPr id="30" name="Shape 28"/>
          <p:cNvSpPr/>
          <p:nvPr/>
        </p:nvSpPr>
        <p:spPr>
          <a:xfrm>
            <a:off x="6934200" y="3886200"/>
            <a:ext cx="2179320" cy="2331720"/>
          </a:xfrm>
          <a:prstGeom prst="rect">
            <a:avLst/>
          </a:prstGeom>
          <a:solidFill>
            <a:srgbClr val="FFFFFF"/>
          </a:solidFill>
          <a:ln w="12700">
            <a:solidFill>
              <a:srgbClr val="D9D2C2"/>
            </a:solidFill>
            <a:prstDash val="solid"/>
          </a:ln>
        </p:spPr>
        <p:txBody>
          <a:bodyPr/>
          <a:lstStyle/>
          <a:p>
            <a:endParaRPr lang="en-US"/>
          </a:p>
        </p:txBody>
      </p:sp>
      <p:sp>
        <p:nvSpPr>
          <p:cNvPr id="31" name="Shape 29"/>
          <p:cNvSpPr/>
          <p:nvPr/>
        </p:nvSpPr>
        <p:spPr>
          <a:xfrm>
            <a:off x="6934200" y="3886200"/>
            <a:ext cx="54864" cy="2331720"/>
          </a:xfrm>
          <a:prstGeom prst="rect">
            <a:avLst/>
          </a:prstGeom>
          <a:solidFill>
            <a:srgbClr val="C0392B"/>
          </a:solidFill>
          <a:ln w="12700">
            <a:solidFill>
              <a:srgbClr val="C0392B"/>
            </a:solidFill>
            <a:prstDash val="solid"/>
          </a:ln>
        </p:spPr>
        <p:txBody>
          <a:bodyPr/>
          <a:lstStyle/>
          <a:p>
            <a:endParaRPr lang="en-US"/>
          </a:p>
        </p:txBody>
      </p:sp>
      <p:sp>
        <p:nvSpPr>
          <p:cNvPr id="32" name="Text 30"/>
          <p:cNvSpPr/>
          <p:nvPr/>
        </p:nvSpPr>
        <p:spPr>
          <a:xfrm>
            <a:off x="7117080" y="4023360"/>
            <a:ext cx="1859280" cy="228600"/>
          </a:xfrm>
          <a:prstGeom prst="rect">
            <a:avLst/>
          </a:prstGeom>
          <a:noFill/>
          <a:ln/>
        </p:spPr>
        <p:txBody>
          <a:bodyPr wrap="square" lIns="0" tIns="0" rIns="0" bIns="0" rtlCol="0" anchor="ctr"/>
          <a:lstStyle/>
          <a:p>
            <a:pPr marL="0" indent="0">
              <a:buNone/>
            </a:pPr>
            <a:r>
              <a:rPr lang="en-US" sz="800" b="1" kern="0" spc="400" dirty="0">
                <a:solidFill>
                  <a:srgbClr val="C0392B"/>
                </a:solidFill>
                <a:latin typeface="Calibri" pitchFamily="34" charset="0"/>
                <a:ea typeface="Calibri" pitchFamily="34" charset="-122"/>
                <a:cs typeface="Calibri" pitchFamily="34" charset="-120"/>
              </a:rPr>
              <a:t>CRITICAL</a:t>
            </a:r>
            <a:endParaRPr lang="en-US" sz="800" dirty="0"/>
          </a:p>
        </p:txBody>
      </p:sp>
      <p:sp>
        <p:nvSpPr>
          <p:cNvPr id="33" name="Text 31"/>
          <p:cNvSpPr/>
          <p:nvPr/>
        </p:nvSpPr>
        <p:spPr>
          <a:xfrm>
            <a:off x="7117080" y="4270248"/>
            <a:ext cx="1950720" cy="548640"/>
          </a:xfrm>
          <a:prstGeom prst="rect">
            <a:avLst/>
          </a:prstGeom>
          <a:noFill/>
          <a:ln/>
        </p:spPr>
        <p:txBody>
          <a:bodyPr wrap="square" lIns="0" tIns="0" rIns="0" bIns="0" rtlCol="0" anchor="ctr"/>
          <a:lstStyle/>
          <a:p>
            <a:pPr marL="0" indent="0">
              <a:buNone/>
            </a:pPr>
            <a:r>
              <a:rPr lang="en-US" sz="1300" b="1" dirty="0">
                <a:solidFill>
                  <a:srgbClr val="142338"/>
                </a:solidFill>
                <a:latin typeface="Georgia" pitchFamily="34" charset="0"/>
                <a:ea typeface="Georgia" pitchFamily="34" charset="-122"/>
                <a:cs typeface="Georgia" pitchFamily="34" charset="-120"/>
              </a:rPr>
              <a:t>Surprise budget overruns</a:t>
            </a:r>
            <a:endParaRPr lang="en-US" sz="1300" dirty="0"/>
          </a:p>
        </p:txBody>
      </p:sp>
      <p:sp>
        <p:nvSpPr>
          <p:cNvPr id="34" name="Text 32"/>
          <p:cNvSpPr/>
          <p:nvPr/>
        </p:nvSpPr>
        <p:spPr>
          <a:xfrm>
            <a:off x="7117080" y="4892040"/>
            <a:ext cx="1950720" cy="1280160"/>
          </a:xfrm>
          <a:prstGeom prst="rect">
            <a:avLst/>
          </a:prstGeom>
          <a:noFill/>
          <a:ln/>
        </p:spPr>
        <p:txBody>
          <a:bodyPr wrap="square" lIns="0" tIns="0" rIns="0" bIns="0" rtlCol="0" anchor="ctr"/>
          <a:lstStyle/>
          <a:p>
            <a:pPr marL="0" indent="0">
              <a:buNone/>
            </a:pPr>
            <a:r>
              <a:rPr lang="en-US" sz="1000" dirty="0">
                <a:solidFill>
                  <a:srgbClr val="6B6B6B"/>
                </a:solidFill>
                <a:latin typeface="Calibri" pitchFamily="34" charset="0"/>
                <a:ea typeface="Calibri" pitchFamily="34" charset="-122"/>
                <a:cs typeface="Calibri" pitchFamily="34" charset="-120"/>
              </a:rPr>
              <a:t>She finds out a project is over budget the week it ships, not the week it goes off-track. By the time she sees the variance, it's already a client conversation.</a:t>
            </a:r>
            <a:endParaRPr lang="en-US" sz="1000" dirty="0"/>
          </a:p>
        </p:txBody>
      </p:sp>
      <p:sp>
        <p:nvSpPr>
          <p:cNvPr id="35" name="Shape 33"/>
          <p:cNvSpPr/>
          <p:nvPr/>
        </p:nvSpPr>
        <p:spPr>
          <a:xfrm>
            <a:off x="9296400" y="3886200"/>
            <a:ext cx="2179320" cy="2331720"/>
          </a:xfrm>
          <a:prstGeom prst="rect">
            <a:avLst/>
          </a:prstGeom>
          <a:solidFill>
            <a:srgbClr val="FFFFFF"/>
          </a:solidFill>
          <a:ln w="12700">
            <a:solidFill>
              <a:srgbClr val="D9D2C2"/>
            </a:solidFill>
            <a:prstDash val="solid"/>
          </a:ln>
        </p:spPr>
        <p:txBody>
          <a:bodyPr/>
          <a:lstStyle/>
          <a:p>
            <a:endParaRPr lang="en-US"/>
          </a:p>
        </p:txBody>
      </p:sp>
      <p:sp>
        <p:nvSpPr>
          <p:cNvPr id="36" name="Shape 34"/>
          <p:cNvSpPr/>
          <p:nvPr/>
        </p:nvSpPr>
        <p:spPr>
          <a:xfrm>
            <a:off x="9296400" y="3886200"/>
            <a:ext cx="54864" cy="2331720"/>
          </a:xfrm>
          <a:prstGeom prst="rect">
            <a:avLst/>
          </a:prstGeom>
          <a:solidFill>
            <a:srgbClr val="FF8C00"/>
          </a:solidFill>
          <a:ln w="12700">
            <a:solidFill>
              <a:srgbClr val="FF8C00"/>
            </a:solidFill>
            <a:prstDash val="solid"/>
          </a:ln>
        </p:spPr>
        <p:txBody>
          <a:bodyPr/>
          <a:lstStyle/>
          <a:p>
            <a:endParaRPr lang="en-US"/>
          </a:p>
        </p:txBody>
      </p:sp>
      <p:sp>
        <p:nvSpPr>
          <p:cNvPr id="37" name="Text 35"/>
          <p:cNvSpPr/>
          <p:nvPr/>
        </p:nvSpPr>
        <p:spPr>
          <a:xfrm>
            <a:off x="9479280" y="4023360"/>
            <a:ext cx="1859280" cy="228600"/>
          </a:xfrm>
          <a:prstGeom prst="rect">
            <a:avLst/>
          </a:prstGeom>
          <a:noFill/>
          <a:ln/>
        </p:spPr>
        <p:txBody>
          <a:bodyPr wrap="square" lIns="0" tIns="0" rIns="0" bIns="0" rtlCol="0" anchor="ctr"/>
          <a:lstStyle/>
          <a:p>
            <a:pPr marL="0" indent="0">
              <a:buNone/>
            </a:pPr>
            <a:r>
              <a:rPr lang="en-US" sz="800" b="1" kern="0" spc="400" dirty="0">
                <a:solidFill>
                  <a:srgbClr val="FF8C00"/>
                </a:solidFill>
                <a:latin typeface="Calibri" pitchFamily="34" charset="0"/>
                <a:ea typeface="Calibri" pitchFamily="34" charset="-122"/>
                <a:cs typeface="Calibri" pitchFamily="34" charset="-120"/>
              </a:rPr>
              <a:t>HIGH</a:t>
            </a:r>
            <a:endParaRPr lang="en-US" sz="800" dirty="0"/>
          </a:p>
        </p:txBody>
      </p:sp>
      <p:sp>
        <p:nvSpPr>
          <p:cNvPr id="38" name="Text 36"/>
          <p:cNvSpPr/>
          <p:nvPr/>
        </p:nvSpPr>
        <p:spPr>
          <a:xfrm>
            <a:off x="9479280" y="4270248"/>
            <a:ext cx="1950720" cy="548640"/>
          </a:xfrm>
          <a:prstGeom prst="rect">
            <a:avLst/>
          </a:prstGeom>
          <a:noFill/>
          <a:ln/>
        </p:spPr>
        <p:txBody>
          <a:bodyPr wrap="square" lIns="0" tIns="0" rIns="0" bIns="0" rtlCol="0" anchor="ctr"/>
          <a:lstStyle/>
          <a:p>
            <a:pPr marL="0" indent="0">
              <a:buNone/>
            </a:pPr>
            <a:r>
              <a:rPr lang="en-US" sz="1300" b="1" dirty="0">
                <a:solidFill>
                  <a:srgbClr val="142338"/>
                </a:solidFill>
                <a:latin typeface="Georgia" pitchFamily="34" charset="0"/>
                <a:ea typeface="Georgia" pitchFamily="34" charset="-122"/>
                <a:cs typeface="Georgia" pitchFamily="34" charset="-120"/>
              </a:rPr>
              <a:t>No view of who's overloaded</a:t>
            </a:r>
            <a:endParaRPr lang="en-US" sz="1300" dirty="0"/>
          </a:p>
        </p:txBody>
      </p:sp>
      <p:sp>
        <p:nvSpPr>
          <p:cNvPr id="39" name="Text 37"/>
          <p:cNvSpPr/>
          <p:nvPr/>
        </p:nvSpPr>
        <p:spPr>
          <a:xfrm>
            <a:off x="9479280" y="4892040"/>
            <a:ext cx="1950720" cy="1280160"/>
          </a:xfrm>
          <a:prstGeom prst="rect">
            <a:avLst/>
          </a:prstGeom>
          <a:noFill/>
          <a:ln/>
        </p:spPr>
        <p:txBody>
          <a:bodyPr wrap="square" lIns="0" tIns="0" rIns="0" bIns="0" rtlCol="0" anchor="ctr"/>
          <a:lstStyle/>
          <a:p>
            <a:pPr marL="0" indent="0">
              <a:buNone/>
            </a:pPr>
            <a:r>
              <a:rPr lang="en-US" sz="1000" dirty="0">
                <a:solidFill>
                  <a:srgbClr val="6B6B6B"/>
                </a:solidFill>
                <a:latin typeface="Calibri" pitchFamily="34" charset="0"/>
                <a:ea typeface="Calibri" pitchFamily="34" charset="-122"/>
                <a:cs typeface="Calibri" pitchFamily="34" charset="-120"/>
              </a:rPr>
              <a:t>Some contractors are buried, others have capacity — but she has no way to see workload across the team without asking each one directly.</a:t>
            </a:r>
            <a:endParaRPr lang="en-US" sz="1000" dirty="0"/>
          </a:p>
        </p:txBody>
      </p:sp>
      <p:sp>
        <p:nvSpPr>
          <p:cNvPr id="40" name="Shape 38"/>
          <p:cNvSpPr/>
          <p:nvPr/>
        </p:nvSpPr>
        <p:spPr>
          <a:xfrm>
            <a:off x="640080" y="5989320"/>
            <a:ext cx="10911535" cy="502920"/>
          </a:xfrm>
          <a:prstGeom prst="rect">
            <a:avLst/>
          </a:prstGeom>
          <a:solidFill>
            <a:srgbClr val="EFE9DD"/>
          </a:solidFill>
          <a:ln w="12700">
            <a:solidFill>
              <a:srgbClr val="EFE9DD"/>
            </a:solidFill>
            <a:prstDash val="solid"/>
          </a:ln>
        </p:spPr>
        <p:txBody>
          <a:bodyPr/>
          <a:lstStyle/>
          <a:p>
            <a:endParaRPr lang="en-US"/>
          </a:p>
        </p:txBody>
      </p:sp>
      <p:sp>
        <p:nvSpPr>
          <p:cNvPr id="41" name="Shape 39"/>
          <p:cNvSpPr/>
          <p:nvPr/>
        </p:nvSpPr>
        <p:spPr>
          <a:xfrm>
            <a:off x="640080" y="5989320"/>
            <a:ext cx="54864" cy="502920"/>
          </a:xfrm>
          <a:prstGeom prst="rect">
            <a:avLst/>
          </a:prstGeom>
          <a:solidFill>
            <a:srgbClr val="FF8C00"/>
          </a:solidFill>
          <a:ln w="12700">
            <a:solidFill>
              <a:srgbClr val="FF8C00"/>
            </a:solidFill>
            <a:prstDash val="solid"/>
          </a:ln>
        </p:spPr>
        <p:txBody>
          <a:bodyPr/>
          <a:lstStyle/>
          <a:p>
            <a:endParaRPr lang="en-US"/>
          </a:p>
        </p:txBody>
      </p:sp>
      <p:sp>
        <p:nvSpPr>
          <p:cNvPr id="42" name="Text 40"/>
          <p:cNvSpPr/>
          <p:nvPr/>
        </p:nvSpPr>
        <p:spPr>
          <a:xfrm>
            <a:off x="868680" y="5989320"/>
            <a:ext cx="10637215" cy="502920"/>
          </a:xfrm>
          <a:prstGeom prst="rect">
            <a:avLst/>
          </a:prstGeom>
          <a:noFill/>
          <a:ln/>
        </p:spPr>
        <p:txBody>
          <a:bodyPr wrap="square" lIns="0" tIns="0" rIns="0" bIns="0" rtlCol="0" anchor="ctr"/>
          <a:lstStyle/>
          <a:p>
            <a:pPr marL="0" indent="0">
              <a:buNone/>
            </a:pPr>
            <a:r>
              <a:rPr lang="en-US" sz="1300" i="1" dirty="0">
                <a:solidFill>
                  <a:srgbClr val="142338"/>
                </a:solidFill>
                <a:latin typeface="Georgia" pitchFamily="34" charset="0"/>
                <a:ea typeface="Georgia" pitchFamily="34" charset="-122"/>
                <a:cs typeface="Georgia" pitchFamily="34" charset="-120"/>
              </a:rPr>
              <a:t>"By the time I hear a project is in trouble, the client has already heard it first."</a:t>
            </a:r>
            <a:endParaRPr lang="en-US" sz="1300" dirty="0"/>
          </a:p>
        </p:txBody>
      </p:sp>
      <p:sp>
        <p:nvSpPr>
          <p:cNvPr id="43" name="Text 41"/>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1000" b="1" dirty="0">
                <a:solidFill>
                  <a:srgbClr val="6B6B6B"/>
                </a:solidFill>
                <a:latin typeface="Calibri" pitchFamily="34" charset="0"/>
                <a:ea typeface="Calibri" pitchFamily="34" charset="-122"/>
                <a:cs typeface="Calibri" pitchFamily="34" charset="-120"/>
              </a:rPr>
              <a:t>05 / 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11323015" y="411480"/>
            <a:ext cx="457200" cy="457200"/>
          </a:xfrm>
          <a:prstGeom prst="rect">
            <a:avLst/>
          </a:prstGeom>
          <a:solidFill>
            <a:srgbClr val="FF8C00"/>
          </a:solidFill>
          <a:ln w="12700">
            <a:solidFill>
              <a:srgbClr val="FF8C00"/>
            </a:solidFill>
            <a:prstDash val="solid"/>
          </a:ln>
        </p:spPr>
        <p:txBody>
          <a:bodyPr/>
          <a:lstStyle/>
          <a:p>
            <a:endParaRPr lang="en-US"/>
          </a:p>
        </p:txBody>
      </p:sp>
      <p:sp>
        <p:nvSpPr>
          <p:cNvPr id="3" name="Text 1"/>
          <p:cNvSpPr/>
          <p:nvPr/>
        </p:nvSpPr>
        <p:spPr>
          <a:xfrm>
            <a:off x="11323015" y="411480"/>
            <a:ext cx="457200" cy="457200"/>
          </a:xfrm>
          <a:prstGeom prst="rect">
            <a:avLst/>
          </a:prstGeom>
          <a:noFill/>
          <a:ln/>
        </p:spPr>
        <p:txBody>
          <a:bodyPr wrap="square" lIns="0" tIns="0" rIns="0" bIns="0" rtlCol="0" anchor="ctr"/>
          <a:lstStyle/>
          <a:p>
            <a:pPr marL="0" indent="0" algn="ctr">
              <a:buNone/>
            </a:pPr>
            <a:r>
              <a:rPr lang="en-US" sz="1600" b="1" dirty="0">
                <a:solidFill>
                  <a:srgbClr val="142338"/>
                </a:solidFill>
                <a:latin typeface="Georgia" pitchFamily="34" charset="0"/>
                <a:ea typeface="Georgia" pitchFamily="34" charset="-122"/>
                <a:cs typeface="Georgia" pitchFamily="34" charset="-120"/>
              </a:rPr>
              <a:t>H9</a:t>
            </a:r>
            <a:endParaRPr lang="en-US" sz="1600" dirty="0"/>
          </a:p>
        </p:txBody>
      </p:sp>
      <p:sp>
        <p:nvSpPr>
          <p:cNvPr id="4" name="Text 2"/>
          <p:cNvSpPr/>
          <p:nvPr/>
        </p:nvSpPr>
        <p:spPr>
          <a:xfrm>
            <a:off x="640080" y="502920"/>
            <a:ext cx="7315200" cy="274320"/>
          </a:xfrm>
          <a:prstGeom prst="rect">
            <a:avLst/>
          </a:prstGeom>
          <a:noFill/>
          <a:ln/>
        </p:spPr>
        <p:txBody>
          <a:bodyPr wrap="square" lIns="0" tIns="0" rIns="0" bIns="0" rtlCol="0" anchor="ctr"/>
          <a:lstStyle/>
          <a:p>
            <a:pPr marL="0" indent="0">
              <a:buNone/>
            </a:pPr>
            <a:r>
              <a:rPr lang="en-US" sz="1100" b="1" kern="0" spc="600" dirty="0">
                <a:solidFill>
                  <a:srgbClr val="FF8C00"/>
                </a:solidFill>
                <a:latin typeface="Calibri" pitchFamily="34" charset="0"/>
                <a:ea typeface="Calibri" pitchFamily="34" charset="-122"/>
                <a:cs typeface="Calibri" pitchFamily="34" charset="-120"/>
              </a:rPr>
              <a:t>THE FULL PICTURE</a:t>
            </a:r>
            <a:endParaRPr lang="en-US" sz="1100" dirty="0"/>
          </a:p>
        </p:txBody>
      </p:sp>
      <p:sp>
        <p:nvSpPr>
          <p:cNvPr id="5" name="Text 3"/>
          <p:cNvSpPr/>
          <p:nvPr/>
        </p:nvSpPr>
        <p:spPr>
          <a:xfrm>
            <a:off x="640080" y="868680"/>
            <a:ext cx="10515600" cy="640080"/>
          </a:xfrm>
          <a:prstGeom prst="rect">
            <a:avLst/>
          </a:prstGeom>
          <a:noFill/>
          <a:ln/>
        </p:spPr>
        <p:txBody>
          <a:bodyPr wrap="square" lIns="0" tIns="0" rIns="0" bIns="0" rtlCol="0" anchor="ctr"/>
          <a:lstStyle/>
          <a:p>
            <a:pPr marL="0" indent="0">
              <a:buNone/>
            </a:pPr>
            <a:r>
              <a:rPr lang="en-US" sz="3000" b="1" dirty="0">
                <a:solidFill>
                  <a:srgbClr val="142338"/>
                </a:solidFill>
                <a:latin typeface="Georgia" pitchFamily="34" charset="0"/>
                <a:ea typeface="Georgia" pitchFamily="34" charset="-122"/>
                <a:cs typeface="Georgia" pitchFamily="34" charset="-120"/>
              </a:rPr>
              <a:t>Cross-Persona Pain Point Matrix</a:t>
            </a:r>
            <a:endParaRPr lang="en-US" sz="3000" dirty="0"/>
          </a:p>
        </p:txBody>
      </p:sp>
      <p:sp>
        <p:nvSpPr>
          <p:cNvPr id="6" name="Text 4"/>
          <p:cNvSpPr/>
          <p:nvPr/>
        </p:nvSpPr>
        <p:spPr>
          <a:xfrm>
            <a:off x="640080" y="1463040"/>
            <a:ext cx="10515600" cy="365760"/>
          </a:xfrm>
          <a:prstGeom prst="rect">
            <a:avLst/>
          </a:prstGeom>
          <a:noFill/>
          <a:ln/>
        </p:spPr>
        <p:txBody>
          <a:bodyPr wrap="square" lIns="0" tIns="0" rIns="0" bIns="0" rtlCol="0" anchor="ctr"/>
          <a:lstStyle/>
          <a:p>
            <a:pPr marL="0" indent="0">
              <a:buNone/>
            </a:pPr>
            <a:r>
              <a:rPr lang="en-US" sz="1300" i="1" dirty="0">
                <a:solidFill>
                  <a:srgbClr val="6B6B6B"/>
                </a:solidFill>
                <a:latin typeface="Calibri" pitchFamily="34" charset="0"/>
                <a:ea typeface="Calibri" pitchFamily="34" charset="-122"/>
                <a:cs typeface="Calibri" pitchFamily="34" charset="-120"/>
              </a:rPr>
              <a:t>Where the friction overlaps — and where to invest first.</a:t>
            </a:r>
            <a:endParaRPr lang="en-US" sz="1300" dirty="0"/>
          </a:p>
        </p:txBody>
      </p:sp>
      <p:sp>
        <p:nvSpPr>
          <p:cNvPr id="7" name="Shape 5"/>
          <p:cNvSpPr/>
          <p:nvPr/>
        </p:nvSpPr>
        <p:spPr>
          <a:xfrm>
            <a:off x="640080" y="2011680"/>
            <a:ext cx="10881360" cy="411480"/>
          </a:xfrm>
          <a:prstGeom prst="rect">
            <a:avLst/>
          </a:prstGeom>
          <a:solidFill>
            <a:srgbClr val="142338"/>
          </a:solidFill>
          <a:ln w="12700">
            <a:solidFill>
              <a:srgbClr val="142338"/>
            </a:solidFill>
            <a:prstDash val="solid"/>
          </a:ln>
        </p:spPr>
        <p:txBody>
          <a:bodyPr/>
          <a:lstStyle/>
          <a:p>
            <a:endParaRPr lang="en-US"/>
          </a:p>
        </p:txBody>
      </p:sp>
      <p:sp>
        <p:nvSpPr>
          <p:cNvPr id="8" name="Text 6"/>
          <p:cNvSpPr/>
          <p:nvPr/>
        </p:nvSpPr>
        <p:spPr>
          <a:xfrm>
            <a:off x="822960" y="2011680"/>
            <a:ext cx="4846320" cy="411480"/>
          </a:xfrm>
          <a:prstGeom prst="rect">
            <a:avLst/>
          </a:prstGeom>
          <a:noFill/>
          <a:ln/>
        </p:spPr>
        <p:txBody>
          <a:bodyPr wrap="square" lIns="0" tIns="0" rIns="0" bIns="0" rtlCol="0" anchor="ctr"/>
          <a:lstStyle/>
          <a:p>
            <a:pPr marL="0" indent="0" algn="l">
              <a:buNone/>
            </a:pPr>
            <a:r>
              <a:rPr lang="en-US" sz="1100" b="1" kern="0" spc="400" dirty="0">
                <a:solidFill>
                  <a:srgbClr val="FAF8F4"/>
                </a:solidFill>
                <a:latin typeface="Calibri" pitchFamily="34" charset="0"/>
                <a:ea typeface="Calibri" pitchFamily="34" charset="-122"/>
                <a:cs typeface="Calibri" pitchFamily="34" charset="-120"/>
              </a:rPr>
              <a:t>DAY-TO-DAY PAIN POINT</a:t>
            </a:r>
            <a:endParaRPr lang="en-US" sz="1100" dirty="0"/>
          </a:p>
        </p:txBody>
      </p:sp>
      <p:sp>
        <p:nvSpPr>
          <p:cNvPr id="9" name="Text 7"/>
          <p:cNvSpPr/>
          <p:nvPr/>
        </p:nvSpPr>
        <p:spPr>
          <a:xfrm>
            <a:off x="5669280" y="2011680"/>
            <a:ext cx="2926080" cy="411480"/>
          </a:xfrm>
          <a:prstGeom prst="rect">
            <a:avLst/>
          </a:prstGeom>
          <a:noFill/>
          <a:ln/>
        </p:spPr>
        <p:txBody>
          <a:bodyPr wrap="square" lIns="0" tIns="0" rIns="0" bIns="0" rtlCol="0" anchor="ctr"/>
          <a:lstStyle/>
          <a:p>
            <a:pPr marL="0" indent="0" algn="ctr">
              <a:buNone/>
            </a:pPr>
            <a:r>
              <a:rPr lang="en-US" sz="1100" b="1" kern="0" spc="400" dirty="0">
                <a:solidFill>
                  <a:srgbClr val="FAF8F4"/>
                </a:solidFill>
                <a:latin typeface="Calibri" pitchFamily="34" charset="0"/>
                <a:ea typeface="Calibri" pitchFamily="34" charset="-122"/>
                <a:cs typeface="Calibri" pitchFamily="34" charset="-120"/>
              </a:rPr>
              <a:t>MARCUS  •  FREELANCER</a:t>
            </a:r>
            <a:endParaRPr lang="en-US" sz="1100" dirty="0"/>
          </a:p>
        </p:txBody>
      </p:sp>
      <p:sp>
        <p:nvSpPr>
          <p:cNvPr id="10" name="Text 8"/>
          <p:cNvSpPr/>
          <p:nvPr/>
        </p:nvSpPr>
        <p:spPr>
          <a:xfrm>
            <a:off x="8595360" y="2011680"/>
            <a:ext cx="2926080" cy="411480"/>
          </a:xfrm>
          <a:prstGeom prst="rect">
            <a:avLst/>
          </a:prstGeom>
          <a:noFill/>
          <a:ln/>
        </p:spPr>
        <p:txBody>
          <a:bodyPr wrap="square" lIns="0" tIns="0" rIns="0" bIns="0" rtlCol="0" anchor="ctr"/>
          <a:lstStyle/>
          <a:p>
            <a:pPr marL="0" indent="0" algn="ctr">
              <a:buNone/>
            </a:pPr>
            <a:r>
              <a:rPr lang="en-US" sz="1100" b="1" kern="0" spc="400" dirty="0">
                <a:solidFill>
                  <a:srgbClr val="FAF8F4"/>
                </a:solidFill>
                <a:latin typeface="Calibri" pitchFamily="34" charset="0"/>
                <a:ea typeface="Calibri" pitchFamily="34" charset="-122"/>
                <a:cs typeface="Calibri" pitchFamily="34" charset="-120"/>
              </a:rPr>
              <a:t>LINDA  •  PROJECT OWNER</a:t>
            </a:r>
            <a:endParaRPr lang="en-US" sz="1100" dirty="0"/>
          </a:p>
        </p:txBody>
      </p:sp>
      <p:sp>
        <p:nvSpPr>
          <p:cNvPr id="11" name="Shape 9"/>
          <p:cNvSpPr/>
          <p:nvPr/>
        </p:nvSpPr>
        <p:spPr>
          <a:xfrm>
            <a:off x="640080" y="2423160"/>
            <a:ext cx="10881360" cy="365760"/>
          </a:xfrm>
          <a:prstGeom prst="rect">
            <a:avLst/>
          </a:prstGeom>
          <a:solidFill>
            <a:srgbClr val="FFFFFF"/>
          </a:solidFill>
          <a:ln w="6350">
            <a:solidFill>
              <a:srgbClr val="D9D2C2"/>
            </a:solidFill>
            <a:prstDash val="solid"/>
          </a:ln>
        </p:spPr>
        <p:txBody>
          <a:bodyPr/>
          <a:lstStyle/>
          <a:p>
            <a:endParaRPr lang="en-US"/>
          </a:p>
        </p:txBody>
      </p:sp>
      <p:sp>
        <p:nvSpPr>
          <p:cNvPr id="12" name="Text 10"/>
          <p:cNvSpPr/>
          <p:nvPr/>
        </p:nvSpPr>
        <p:spPr>
          <a:xfrm>
            <a:off x="822960" y="2423160"/>
            <a:ext cx="4754880" cy="36576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Scope creep with no paper trail</a:t>
            </a:r>
            <a:endParaRPr lang="en-US" sz="1200" dirty="0"/>
          </a:p>
        </p:txBody>
      </p:sp>
      <p:sp>
        <p:nvSpPr>
          <p:cNvPr id="13" name="Shape 11"/>
          <p:cNvSpPr/>
          <p:nvPr/>
        </p:nvSpPr>
        <p:spPr>
          <a:xfrm>
            <a:off x="6400800" y="2487168"/>
            <a:ext cx="1463040" cy="237744"/>
          </a:xfrm>
          <a:prstGeom prst="roundRect">
            <a:avLst>
              <a:gd name="adj" fmla="val 19231"/>
            </a:avLst>
          </a:prstGeom>
          <a:solidFill>
            <a:srgbClr val="C0392B"/>
          </a:solidFill>
          <a:ln w="12700">
            <a:solidFill>
              <a:srgbClr val="C0392B"/>
            </a:solidFill>
            <a:prstDash val="solid"/>
          </a:ln>
        </p:spPr>
        <p:txBody>
          <a:bodyPr/>
          <a:lstStyle/>
          <a:p>
            <a:endParaRPr lang="en-US"/>
          </a:p>
        </p:txBody>
      </p:sp>
      <p:sp>
        <p:nvSpPr>
          <p:cNvPr id="14" name="Text 12"/>
          <p:cNvSpPr/>
          <p:nvPr/>
        </p:nvSpPr>
        <p:spPr>
          <a:xfrm>
            <a:off x="6400800" y="248716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CRITICAL</a:t>
            </a:r>
            <a:endParaRPr lang="en-US" sz="900" dirty="0"/>
          </a:p>
        </p:txBody>
      </p:sp>
      <p:sp>
        <p:nvSpPr>
          <p:cNvPr id="15" name="Shape 13"/>
          <p:cNvSpPr/>
          <p:nvPr/>
        </p:nvSpPr>
        <p:spPr>
          <a:xfrm>
            <a:off x="9326880" y="2487168"/>
            <a:ext cx="1463040" cy="237744"/>
          </a:xfrm>
          <a:prstGeom prst="roundRect">
            <a:avLst>
              <a:gd name="adj" fmla="val 19231"/>
            </a:avLst>
          </a:prstGeom>
          <a:solidFill>
            <a:srgbClr val="FF8C00"/>
          </a:solidFill>
          <a:ln w="12700">
            <a:solidFill>
              <a:srgbClr val="FF8C00"/>
            </a:solidFill>
            <a:prstDash val="solid"/>
          </a:ln>
        </p:spPr>
        <p:txBody>
          <a:bodyPr/>
          <a:lstStyle/>
          <a:p>
            <a:endParaRPr lang="en-US"/>
          </a:p>
        </p:txBody>
      </p:sp>
      <p:sp>
        <p:nvSpPr>
          <p:cNvPr id="16" name="Text 14"/>
          <p:cNvSpPr/>
          <p:nvPr/>
        </p:nvSpPr>
        <p:spPr>
          <a:xfrm>
            <a:off x="9326880" y="248716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HIGH</a:t>
            </a:r>
            <a:endParaRPr lang="en-US" sz="900" dirty="0"/>
          </a:p>
        </p:txBody>
      </p:sp>
      <p:sp>
        <p:nvSpPr>
          <p:cNvPr id="17" name="Shape 15"/>
          <p:cNvSpPr/>
          <p:nvPr/>
        </p:nvSpPr>
        <p:spPr>
          <a:xfrm>
            <a:off x="640080" y="2788920"/>
            <a:ext cx="10881360" cy="365760"/>
          </a:xfrm>
          <a:prstGeom prst="rect">
            <a:avLst/>
          </a:prstGeom>
          <a:solidFill>
            <a:srgbClr val="EFE9DD"/>
          </a:solidFill>
          <a:ln w="6350">
            <a:solidFill>
              <a:srgbClr val="D9D2C2"/>
            </a:solidFill>
            <a:prstDash val="solid"/>
          </a:ln>
        </p:spPr>
        <p:txBody>
          <a:bodyPr/>
          <a:lstStyle/>
          <a:p>
            <a:endParaRPr lang="en-US"/>
          </a:p>
        </p:txBody>
      </p:sp>
      <p:sp>
        <p:nvSpPr>
          <p:cNvPr id="18" name="Text 16"/>
          <p:cNvSpPr/>
          <p:nvPr/>
        </p:nvSpPr>
        <p:spPr>
          <a:xfrm>
            <a:off x="822960" y="2788920"/>
            <a:ext cx="4754880" cy="36576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Chasing invoices and getting paid on time</a:t>
            </a:r>
            <a:endParaRPr lang="en-US" sz="1200" dirty="0"/>
          </a:p>
        </p:txBody>
      </p:sp>
      <p:sp>
        <p:nvSpPr>
          <p:cNvPr id="19" name="Shape 17"/>
          <p:cNvSpPr/>
          <p:nvPr/>
        </p:nvSpPr>
        <p:spPr>
          <a:xfrm>
            <a:off x="6400800" y="2852928"/>
            <a:ext cx="1463040" cy="237744"/>
          </a:xfrm>
          <a:prstGeom prst="roundRect">
            <a:avLst>
              <a:gd name="adj" fmla="val 19231"/>
            </a:avLst>
          </a:prstGeom>
          <a:solidFill>
            <a:srgbClr val="C0392B"/>
          </a:solidFill>
          <a:ln w="12700">
            <a:solidFill>
              <a:srgbClr val="C0392B"/>
            </a:solidFill>
            <a:prstDash val="solid"/>
          </a:ln>
        </p:spPr>
        <p:txBody>
          <a:bodyPr/>
          <a:lstStyle/>
          <a:p>
            <a:endParaRPr lang="en-US"/>
          </a:p>
        </p:txBody>
      </p:sp>
      <p:sp>
        <p:nvSpPr>
          <p:cNvPr id="20" name="Text 18"/>
          <p:cNvSpPr/>
          <p:nvPr/>
        </p:nvSpPr>
        <p:spPr>
          <a:xfrm>
            <a:off x="6400800" y="285292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CRITICAL</a:t>
            </a:r>
            <a:endParaRPr lang="en-US" sz="900" dirty="0"/>
          </a:p>
        </p:txBody>
      </p:sp>
      <p:sp>
        <p:nvSpPr>
          <p:cNvPr id="21" name="Shape 19"/>
          <p:cNvSpPr/>
          <p:nvPr/>
        </p:nvSpPr>
        <p:spPr>
          <a:xfrm>
            <a:off x="9326880" y="2852928"/>
            <a:ext cx="1463040" cy="237744"/>
          </a:xfrm>
          <a:prstGeom prst="roundRect">
            <a:avLst>
              <a:gd name="adj" fmla="val 19231"/>
            </a:avLst>
          </a:prstGeom>
          <a:solidFill>
            <a:srgbClr val="B89B5E"/>
          </a:solidFill>
          <a:ln w="12700">
            <a:solidFill>
              <a:srgbClr val="B89B5E"/>
            </a:solidFill>
            <a:prstDash val="solid"/>
          </a:ln>
        </p:spPr>
        <p:txBody>
          <a:bodyPr/>
          <a:lstStyle/>
          <a:p>
            <a:endParaRPr lang="en-US"/>
          </a:p>
        </p:txBody>
      </p:sp>
      <p:sp>
        <p:nvSpPr>
          <p:cNvPr id="22" name="Text 20"/>
          <p:cNvSpPr/>
          <p:nvPr/>
        </p:nvSpPr>
        <p:spPr>
          <a:xfrm>
            <a:off x="9326880" y="285292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MED</a:t>
            </a:r>
            <a:endParaRPr lang="en-US" sz="900" dirty="0"/>
          </a:p>
        </p:txBody>
      </p:sp>
      <p:sp>
        <p:nvSpPr>
          <p:cNvPr id="23" name="Shape 21"/>
          <p:cNvSpPr/>
          <p:nvPr/>
        </p:nvSpPr>
        <p:spPr>
          <a:xfrm>
            <a:off x="640080" y="3154680"/>
            <a:ext cx="10881360" cy="365760"/>
          </a:xfrm>
          <a:prstGeom prst="rect">
            <a:avLst/>
          </a:prstGeom>
          <a:solidFill>
            <a:srgbClr val="FFFFFF"/>
          </a:solidFill>
          <a:ln w="6350">
            <a:solidFill>
              <a:srgbClr val="D9D2C2"/>
            </a:solidFill>
            <a:prstDash val="solid"/>
          </a:ln>
        </p:spPr>
        <p:txBody>
          <a:bodyPr/>
          <a:lstStyle/>
          <a:p>
            <a:endParaRPr lang="en-US"/>
          </a:p>
        </p:txBody>
      </p:sp>
      <p:sp>
        <p:nvSpPr>
          <p:cNvPr id="24" name="Text 22"/>
          <p:cNvSpPr/>
          <p:nvPr/>
        </p:nvSpPr>
        <p:spPr>
          <a:xfrm>
            <a:off x="822960" y="3154680"/>
            <a:ext cx="4754880" cy="36576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Context-switching across many projects</a:t>
            </a:r>
            <a:endParaRPr lang="en-US" sz="1200" dirty="0"/>
          </a:p>
        </p:txBody>
      </p:sp>
      <p:sp>
        <p:nvSpPr>
          <p:cNvPr id="25" name="Shape 23"/>
          <p:cNvSpPr/>
          <p:nvPr/>
        </p:nvSpPr>
        <p:spPr>
          <a:xfrm>
            <a:off x="6400800" y="3218688"/>
            <a:ext cx="1463040" cy="237744"/>
          </a:xfrm>
          <a:prstGeom prst="roundRect">
            <a:avLst>
              <a:gd name="adj" fmla="val 19231"/>
            </a:avLst>
          </a:prstGeom>
          <a:solidFill>
            <a:srgbClr val="C0392B"/>
          </a:solidFill>
          <a:ln w="12700">
            <a:solidFill>
              <a:srgbClr val="C0392B"/>
            </a:solidFill>
            <a:prstDash val="solid"/>
          </a:ln>
        </p:spPr>
        <p:txBody>
          <a:bodyPr/>
          <a:lstStyle/>
          <a:p>
            <a:endParaRPr lang="en-US"/>
          </a:p>
        </p:txBody>
      </p:sp>
      <p:sp>
        <p:nvSpPr>
          <p:cNvPr id="26" name="Text 24"/>
          <p:cNvSpPr/>
          <p:nvPr/>
        </p:nvSpPr>
        <p:spPr>
          <a:xfrm>
            <a:off x="6400800" y="321868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CRITICAL</a:t>
            </a:r>
            <a:endParaRPr lang="en-US" sz="900" dirty="0"/>
          </a:p>
        </p:txBody>
      </p:sp>
      <p:sp>
        <p:nvSpPr>
          <p:cNvPr id="27" name="Shape 25"/>
          <p:cNvSpPr/>
          <p:nvPr/>
        </p:nvSpPr>
        <p:spPr>
          <a:xfrm>
            <a:off x="9326880" y="3218688"/>
            <a:ext cx="1463040" cy="237744"/>
          </a:xfrm>
          <a:prstGeom prst="roundRect">
            <a:avLst>
              <a:gd name="adj" fmla="val 19231"/>
            </a:avLst>
          </a:prstGeom>
          <a:solidFill>
            <a:srgbClr val="FF8C00"/>
          </a:solidFill>
          <a:ln w="12700">
            <a:solidFill>
              <a:srgbClr val="FF8C00"/>
            </a:solidFill>
            <a:prstDash val="solid"/>
          </a:ln>
        </p:spPr>
        <p:txBody>
          <a:bodyPr/>
          <a:lstStyle/>
          <a:p>
            <a:endParaRPr lang="en-US"/>
          </a:p>
        </p:txBody>
      </p:sp>
      <p:sp>
        <p:nvSpPr>
          <p:cNvPr id="28" name="Text 26"/>
          <p:cNvSpPr/>
          <p:nvPr/>
        </p:nvSpPr>
        <p:spPr>
          <a:xfrm>
            <a:off x="9326880" y="321868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HIGH</a:t>
            </a:r>
            <a:endParaRPr lang="en-US" sz="900" dirty="0"/>
          </a:p>
        </p:txBody>
      </p:sp>
      <p:sp>
        <p:nvSpPr>
          <p:cNvPr id="29" name="Shape 27"/>
          <p:cNvSpPr/>
          <p:nvPr/>
        </p:nvSpPr>
        <p:spPr>
          <a:xfrm>
            <a:off x="640080" y="3520440"/>
            <a:ext cx="10881360" cy="365760"/>
          </a:xfrm>
          <a:prstGeom prst="rect">
            <a:avLst/>
          </a:prstGeom>
          <a:solidFill>
            <a:srgbClr val="EFE9DD"/>
          </a:solidFill>
          <a:ln w="6350">
            <a:solidFill>
              <a:srgbClr val="D9D2C2"/>
            </a:solidFill>
            <a:prstDash val="solid"/>
          </a:ln>
        </p:spPr>
        <p:txBody>
          <a:bodyPr/>
          <a:lstStyle/>
          <a:p>
            <a:endParaRPr lang="en-US"/>
          </a:p>
        </p:txBody>
      </p:sp>
      <p:sp>
        <p:nvSpPr>
          <p:cNvPr id="30" name="Text 28"/>
          <p:cNvSpPr/>
          <p:nvPr/>
        </p:nvSpPr>
        <p:spPr>
          <a:xfrm>
            <a:off x="822960" y="3520440"/>
            <a:ext cx="4754880" cy="36576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Status updates scattered across tools</a:t>
            </a:r>
            <a:endParaRPr lang="en-US" sz="1200" dirty="0"/>
          </a:p>
        </p:txBody>
      </p:sp>
      <p:sp>
        <p:nvSpPr>
          <p:cNvPr id="31" name="Shape 29"/>
          <p:cNvSpPr/>
          <p:nvPr/>
        </p:nvSpPr>
        <p:spPr>
          <a:xfrm>
            <a:off x="6400800" y="3584448"/>
            <a:ext cx="1463040" cy="237744"/>
          </a:xfrm>
          <a:prstGeom prst="roundRect">
            <a:avLst>
              <a:gd name="adj" fmla="val 19231"/>
            </a:avLst>
          </a:prstGeom>
          <a:solidFill>
            <a:srgbClr val="FF8C00"/>
          </a:solidFill>
          <a:ln w="12700">
            <a:solidFill>
              <a:srgbClr val="FF8C00"/>
            </a:solidFill>
            <a:prstDash val="solid"/>
          </a:ln>
        </p:spPr>
        <p:txBody>
          <a:bodyPr/>
          <a:lstStyle/>
          <a:p>
            <a:endParaRPr lang="en-US"/>
          </a:p>
        </p:txBody>
      </p:sp>
      <p:sp>
        <p:nvSpPr>
          <p:cNvPr id="32" name="Text 30"/>
          <p:cNvSpPr/>
          <p:nvPr/>
        </p:nvSpPr>
        <p:spPr>
          <a:xfrm>
            <a:off x="6400800" y="358444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HIGH</a:t>
            </a:r>
            <a:endParaRPr lang="en-US" sz="900" dirty="0"/>
          </a:p>
        </p:txBody>
      </p:sp>
      <p:sp>
        <p:nvSpPr>
          <p:cNvPr id="33" name="Shape 31"/>
          <p:cNvSpPr/>
          <p:nvPr/>
        </p:nvSpPr>
        <p:spPr>
          <a:xfrm>
            <a:off x="9326880" y="3584448"/>
            <a:ext cx="1463040" cy="237744"/>
          </a:xfrm>
          <a:prstGeom prst="roundRect">
            <a:avLst>
              <a:gd name="adj" fmla="val 19231"/>
            </a:avLst>
          </a:prstGeom>
          <a:solidFill>
            <a:srgbClr val="C0392B"/>
          </a:solidFill>
          <a:ln w="12700">
            <a:solidFill>
              <a:srgbClr val="C0392B"/>
            </a:solidFill>
            <a:prstDash val="solid"/>
          </a:ln>
        </p:spPr>
        <p:txBody>
          <a:bodyPr/>
          <a:lstStyle/>
          <a:p>
            <a:endParaRPr lang="en-US"/>
          </a:p>
        </p:txBody>
      </p:sp>
      <p:sp>
        <p:nvSpPr>
          <p:cNvPr id="34" name="Text 32"/>
          <p:cNvSpPr/>
          <p:nvPr/>
        </p:nvSpPr>
        <p:spPr>
          <a:xfrm>
            <a:off x="9326880" y="358444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CRITICAL</a:t>
            </a:r>
            <a:endParaRPr lang="en-US" sz="900" dirty="0"/>
          </a:p>
        </p:txBody>
      </p:sp>
      <p:sp>
        <p:nvSpPr>
          <p:cNvPr id="35" name="Shape 33"/>
          <p:cNvSpPr/>
          <p:nvPr/>
        </p:nvSpPr>
        <p:spPr>
          <a:xfrm>
            <a:off x="640080" y="3886200"/>
            <a:ext cx="10881360" cy="365760"/>
          </a:xfrm>
          <a:prstGeom prst="rect">
            <a:avLst/>
          </a:prstGeom>
          <a:solidFill>
            <a:srgbClr val="FFFFFF"/>
          </a:solidFill>
          <a:ln w="6350">
            <a:solidFill>
              <a:srgbClr val="D9D2C2"/>
            </a:solidFill>
            <a:prstDash val="solid"/>
          </a:ln>
        </p:spPr>
        <p:txBody>
          <a:bodyPr/>
          <a:lstStyle/>
          <a:p>
            <a:endParaRPr lang="en-US"/>
          </a:p>
        </p:txBody>
      </p:sp>
      <p:sp>
        <p:nvSpPr>
          <p:cNvPr id="36" name="Text 34"/>
          <p:cNvSpPr/>
          <p:nvPr/>
        </p:nvSpPr>
        <p:spPr>
          <a:xfrm>
            <a:off x="822960" y="3886200"/>
            <a:ext cx="4754880" cy="36576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Surprise budget overruns</a:t>
            </a:r>
            <a:endParaRPr lang="en-US" sz="1200" dirty="0"/>
          </a:p>
        </p:txBody>
      </p:sp>
      <p:sp>
        <p:nvSpPr>
          <p:cNvPr id="37" name="Shape 35"/>
          <p:cNvSpPr/>
          <p:nvPr/>
        </p:nvSpPr>
        <p:spPr>
          <a:xfrm>
            <a:off x="6400800" y="3950208"/>
            <a:ext cx="1463040" cy="237744"/>
          </a:xfrm>
          <a:prstGeom prst="roundRect">
            <a:avLst>
              <a:gd name="adj" fmla="val 19231"/>
            </a:avLst>
          </a:prstGeom>
          <a:solidFill>
            <a:srgbClr val="FF8C00"/>
          </a:solidFill>
          <a:ln w="12700">
            <a:solidFill>
              <a:srgbClr val="FF8C00"/>
            </a:solidFill>
            <a:prstDash val="solid"/>
          </a:ln>
        </p:spPr>
        <p:txBody>
          <a:bodyPr/>
          <a:lstStyle/>
          <a:p>
            <a:endParaRPr lang="en-US"/>
          </a:p>
        </p:txBody>
      </p:sp>
      <p:sp>
        <p:nvSpPr>
          <p:cNvPr id="38" name="Text 36"/>
          <p:cNvSpPr/>
          <p:nvPr/>
        </p:nvSpPr>
        <p:spPr>
          <a:xfrm>
            <a:off x="6400800" y="395020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HIGH</a:t>
            </a:r>
            <a:endParaRPr lang="en-US" sz="900" dirty="0"/>
          </a:p>
        </p:txBody>
      </p:sp>
      <p:sp>
        <p:nvSpPr>
          <p:cNvPr id="39" name="Shape 37"/>
          <p:cNvSpPr/>
          <p:nvPr/>
        </p:nvSpPr>
        <p:spPr>
          <a:xfrm>
            <a:off x="9326880" y="3950208"/>
            <a:ext cx="1463040" cy="237744"/>
          </a:xfrm>
          <a:prstGeom prst="roundRect">
            <a:avLst>
              <a:gd name="adj" fmla="val 19231"/>
            </a:avLst>
          </a:prstGeom>
          <a:solidFill>
            <a:srgbClr val="C0392B"/>
          </a:solidFill>
          <a:ln w="12700">
            <a:solidFill>
              <a:srgbClr val="C0392B"/>
            </a:solidFill>
            <a:prstDash val="solid"/>
          </a:ln>
        </p:spPr>
        <p:txBody>
          <a:bodyPr/>
          <a:lstStyle/>
          <a:p>
            <a:endParaRPr lang="en-US"/>
          </a:p>
        </p:txBody>
      </p:sp>
      <p:sp>
        <p:nvSpPr>
          <p:cNvPr id="40" name="Text 38"/>
          <p:cNvSpPr/>
          <p:nvPr/>
        </p:nvSpPr>
        <p:spPr>
          <a:xfrm>
            <a:off x="9326880" y="395020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CRITICAL</a:t>
            </a:r>
            <a:endParaRPr lang="en-US" sz="900" dirty="0"/>
          </a:p>
        </p:txBody>
      </p:sp>
      <p:sp>
        <p:nvSpPr>
          <p:cNvPr id="41" name="Shape 39"/>
          <p:cNvSpPr/>
          <p:nvPr/>
        </p:nvSpPr>
        <p:spPr>
          <a:xfrm>
            <a:off x="640080" y="4251960"/>
            <a:ext cx="10881360" cy="365760"/>
          </a:xfrm>
          <a:prstGeom prst="rect">
            <a:avLst/>
          </a:prstGeom>
          <a:solidFill>
            <a:srgbClr val="EFE9DD"/>
          </a:solidFill>
          <a:ln w="6350">
            <a:solidFill>
              <a:srgbClr val="D9D2C2"/>
            </a:solidFill>
            <a:prstDash val="solid"/>
          </a:ln>
        </p:spPr>
        <p:txBody>
          <a:bodyPr/>
          <a:lstStyle/>
          <a:p>
            <a:endParaRPr lang="en-US"/>
          </a:p>
        </p:txBody>
      </p:sp>
      <p:sp>
        <p:nvSpPr>
          <p:cNvPr id="42" name="Text 40"/>
          <p:cNvSpPr/>
          <p:nvPr/>
        </p:nvSpPr>
        <p:spPr>
          <a:xfrm>
            <a:off x="822960" y="4251960"/>
            <a:ext cx="4754880" cy="36576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No visibility into team workload</a:t>
            </a:r>
            <a:endParaRPr lang="en-US" sz="1200" dirty="0"/>
          </a:p>
        </p:txBody>
      </p:sp>
      <p:sp>
        <p:nvSpPr>
          <p:cNvPr id="43" name="Shape 41"/>
          <p:cNvSpPr/>
          <p:nvPr/>
        </p:nvSpPr>
        <p:spPr>
          <a:xfrm>
            <a:off x="6400800" y="4315968"/>
            <a:ext cx="1463040" cy="237744"/>
          </a:xfrm>
          <a:prstGeom prst="roundRect">
            <a:avLst>
              <a:gd name="adj" fmla="val 19231"/>
            </a:avLst>
          </a:prstGeom>
          <a:solidFill>
            <a:srgbClr val="DADADA"/>
          </a:solidFill>
          <a:ln w="12700">
            <a:solidFill>
              <a:srgbClr val="DADADA"/>
            </a:solidFill>
            <a:prstDash val="solid"/>
          </a:ln>
        </p:spPr>
        <p:txBody>
          <a:bodyPr/>
          <a:lstStyle/>
          <a:p>
            <a:endParaRPr lang="en-US"/>
          </a:p>
        </p:txBody>
      </p:sp>
      <p:sp>
        <p:nvSpPr>
          <p:cNvPr id="44" name="Text 42"/>
          <p:cNvSpPr/>
          <p:nvPr/>
        </p:nvSpPr>
        <p:spPr>
          <a:xfrm>
            <a:off x="6400800" y="4315968"/>
            <a:ext cx="1463040" cy="237744"/>
          </a:xfrm>
          <a:prstGeom prst="rect">
            <a:avLst/>
          </a:prstGeom>
          <a:noFill/>
          <a:ln/>
        </p:spPr>
        <p:txBody>
          <a:bodyPr wrap="square" lIns="0" tIns="0" rIns="0" bIns="0" rtlCol="0" anchor="ctr"/>
          <a:lstStyle/>
          <a:p>
            <a:pPr marL="0" indent="0" algn="ctr">
              <a:buNone/>
            </a:pPr>
            <a:r>
              <a:rPr lang="en-US" sz="900" b="1" kern="0" spc="300" dirty="0">
                <a:solidFill>
                  <a:srgbClr val="6B6B6B"/>
                </a:solidFill>
                <a:latin typeface="Calibri" pitchFamily="34" charset="0"/>
                <a:ea typeface="Calibri" pitchFamily="34" charset="-122"/>
                <a:cs typeface="Calibri" pitchFamily="34" charset="-120"/>
              </a:rPr>
              <a:t>—</a:t>
            </a:r>
            <a:endParaRPr lang="en-US" sz="900" dirty="0"/>
          </a:p>
        </p:txBody>
      </p:sp>
      <p:sp>
        <p:nvSpPr>
          <p:cNvPr id="45" name="Shape 43"/>
          <p:cNvSpPr/>
          <p:nvPr/>
        </p:nvSpPr>
        <p:spPr>
          <a:xfrm>
            <a:off x="9326880" y="4315968"/>
            <a:ext cx="1463040" cy="237744"/>
          </a:xfrm>
          <a:prstGeom prst="roundRect">
            <a:avLst>
              <a:gd name="adj" fmla="val 19231"/>
            </a:avLst>
          </a:prstGeom>
          <a:solidFill>
            <a:srgbClr val="C0392B"/>
          </a:solidFill>
          <a:ln w="12700">
            <a:solidFill>
              <a:srgbClr val="C0392B"/>
            </a:solidFill>
            <a:prstDash val="solid"/>
          </a:ln>
        </p:spPr>
        <p:txBody>
          <a:bodyPr/>
          <a:lstStyle/>
          <a:p>
            <a:endParaRPr lang="en-US"/>
          </a:p>
        </p:txBody>
      </p:sp>
      <p:sp>
        <p:nvSpPr>
          <p:cNvPr id="46" name="Text 44"/>
          <p:cNvSpPr/>
          <p:nvPr/>
        </p:nvSpPr>
        <p:spPr>
          <a:xfrm>
            <a:off x="9326880" y="431596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CRITICAL</a:t>
            </a:r>
            <a:endParaRPr lang="en-US" sz="900" dirty="0"/>
          </a:p>
        </p:txBody>
      </p:sp>
      <p:sp>
        <p:nvSpPr>
          <p:cNvPr id="47" name="Shape 45"/>
          <p:cNvSpPr/>
          <p:nvPr/>
        </p:nvSpPr>
        <p:spPr>
          <a:xfrm>
            <a:off x="640080" y="4617720"/>
            <a:ext cx="10881360" cy="365760"/>
          </a:xfrm>
          <a:prstGeom prst="rect">
            <a:avLst/>
          </a:prstGeom>
          <a:solidFill>
            <a:srgbClr val="FFFFFF"/>
          </a:solidFill>
          <a:ln w="6350">
            <a:solidFill>
              <a:srgbClr val="D9D2C2"/>
            </a:solidFill>
            <a:prstDash val="solid"/>
          </a:ln>
        </p:spPr>
        <p:txBody>
          <a:bodyPr/>
          <a:lstStyle/>
          <a:p>
            <a:endParaRPr lang="en-US"/>
          </a:p>
        </p:txBody>
      </p:sp>
      <p:sp>
        <p:nvSpPr>
          <p:cNvPr id="48" name="Text 46"/>
          <p:cNvSpPr/>
          <p:nvPr/>
        </p:nvSpPr>
        <p:spPr>
          <a:xfrm>
            <a:off x="822960" y="4617720"/>
            <a:ext cx="4754880" cy="36576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Time lost in status meetings &amp; check-ins</a:t>
            </a:r>
            <a:endParaRPr lang="en-US" sz="1200" dirty="0"/>
          </a:p>
        </p:txBody>
      </p:sp>
      <p:sp>
        <p:nvSpPr>
          <p:cNvPr id="49" name="Shape 47"/>
          <p:cNvSpPr/>
          <p:nvPr/>
        </p:nvSpPr>
        <p:spPr>
          <a:xfrm>
            <a:off x="6400800" y="4681728"/>
            <a:ext cx="1463040" cy="237744"/>
          </a:xfrm>
          <a:prstGeom prst="roundRect">
            <a:avLst>
              <a:gd name="adj" fmla="val 19231"/>
            </a:avLst>
          </a:prstGeom>
          <a:solidFill>
            <a:srgbClr val="B89B5E"/>
          </a:solidFill>
          <a:ln w="12700">
            <a:solidFill>
              <a:srgbClr val="B89B5E"/>
            </a:solidFill>
            <a:prstDash val="solid"/>
          </a:ln>
        </p:spPr>
        <p:txBody>
          <a:bodyPr/>
          <a:lstStyle/>
          <a:p>
            <a:endParaRPr lang="en-US"/>
          </a:p>
        </p:txBody>
      </p:sp>
      <p:sp>
        <p:nvSpPr>
          <p:cNvPr id="50" name="Text 48"/>
          <p:cNvSpPr/>
          <p:nvPr/>
        </p:nvSpPr>
        <p:spPr>
          <a:xfrm>
            <a:off x="6400800" y="468172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MED</a:t>
            </a:r>
            <a:endParaRPr lang="en-US" sz="900" dirty="0"/>
          </a:p>
        </p:txBody>
      </p:sp>
      <p:sp>
        <p:nvSpPr>
          <p:cNvPr id="51" name="Shape 49"/>
          <p:cNvSpPr/>
          <p:nvPr/>
        </p:nvSpPr>
        <p:spPr>
          <a:xfrm>
            <a:off x="9326880" y="4681728"/>
            <a:ext cx="1463040" cy="237744"/>
          </a:xfrm>
          <a:prstGeom prst="roundRect">
            <a:avLst>
              <a:gd name="adj" fmla="val 19231"/>
            </a:avLst>
          </a:prstGeom>
          <a:solidFill>
            <a:srgbClr val="C0392B"/>
          </a:solidFill>
          <a:ln w="12700">
            <a:solidFill>
              <a:srgbClr val="C0392B"/>
            </a:solidFill>
            <a:prstDash val="solid"/>
          </a:ln>
        </p:spPr>
        <p:txBody>
          <a:bodyPr/>
          <a:lstStyle/>
          <a:p>
            <a:endParaRPr lang="en-US"/>
          </a:p>
        </p:txBody>
      </p:sp>
      <p:sp>
        <p:nvSpPr>
          <p:cNvPr id="52" name="Text 50"/>
          <p:cNvSpPr/>
          <p:nvPr/>
        </p:nvSpPr>
        <p:spPr>
          <a:xfrm>
            <a:off x="9326880" y="468172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CRITICAL</a:t>
            </a:r>
            <a:endParaRPr lang="en-US" sz="900" dirty="0"/>
          </a:p>
        </p:txBody>
      </p:sp>
      <p:sp>
        <p:nvSpPr>
          <p:cNvPr id="53" name="Shape 51"/>
          <p:cNvSpPr/>
          <p:nvPr/>
        </p:nvSpPr>
        <p:spPr>
          <a:xfrm>
            <a:off x="640080" y="4983480"/>
            <a:ext cx="10881360" cy="365760"/>
          </a:xfrm>
          <a:prstGeom prst="rect">
            <a:avLst/>
          </a:prstGeom>
          <a:solidFill>
            <a:srgbClr val="EFE9DD"/>
          </a:solidFill>
          <a:ln w="6350">
            <a:solidFill>
              <a:srgbClr val="D9D2C2"/>
            </a:solidFill>
            <a:prstDash val="solid"/>
          </a:ln>
        </p:spPr>
        <p:txBody>
          <a:bodyPr/>
          <a:lstStyle/>
          <a:p>
            <a:endParaRPr lang="en-US"/>
          </a:p>
        </p:txBody>
      </p:sp>
      <p:sp>
        <p:nvSpPr>
          <p:cNvPr id="54" name="Text 52"/>
          <p:cNvSpPr/>
          <p:nvPr/>
        </p:nvSpPr>
        <p:spPr>
          <a:xfrm>
            <a:off x="822960" y="4983480"/>
            <a:ext cx="4754880" cy="36576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Communicating progress to clients</a:t>
            </a:r>
            <a:endParaRPr lang="en-US" sz="1200" dirty="0"/>
          </a:p>
        </p:txBody>
      </p:sp>
      <p:sp>
        <p:nvSpPr>
          <p:cNvPr id="55" name="Shape 53"/>
          <p:cNvSpPr/>
          <p:nvPr/>
        </p:nvSpPr>
        <p:spPr>
          <a:xfrm>
            <a:off x="6400800" y="5020984"/>
            <a:ext cx="1463040" cy="237744"/>
          </a:xfrm>
          <a:prstGeom prst="roundRect">
            <a:avLst>
              <a:gd name="adj" fmla="val 19231"/>
            </a:avLst>
          </a:prstGeom>
          <a:solidFill>
            <a:srgbClr val="C0392B"/>
          </a:solidFill>
          <a:ln w="12700">
            <a:solidFill>
              <a:srgbClr val="C0392B"/>
            </a:solidFill>
            <a:prstDash val="solid"/>
          </a:ln>
        </p:spPr>
        <p:txBody>
          <a:bodyPr/>
          <a:lstStyle/>
          <a:p>
            <a:endParaRPr lang="en-US"/>
          </a:p>
        </p:txBody>
      </p:sp>
      <p:sp>
        <p:nvSpPr>
          <p:cNvPr id="56" name="Text 54"/>
          <p:cNvSpPr/>
          <p:nvPr/>
        </p:nvSpPr>
        <p:spPr>
          <a:xfrm>
            <a:off x="6400800" y="504748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CRITICAL</a:t>
            </a:r>
            <a:endParaRPr lang="en-US" sz="900" dirty="0"/>
          </a:p>
        </p:txBody>
      </p:sp>
      <p:sp>
        <p:nvSpPr>
          <p:cNvPr id="57" name="Shape 55"/>
          <p:cNvSpPr/>
          <p:nvPr/>
        </p:nvSpPr>
        <p:spPr>
          <a:xfrm>
            <a:off x="9326880" y="5047488"/>
            <a:ext cx="1463040" cy="237744"/>
          </a:xfrm>
          <a:prstGeom prst="roundRect">
            <a:avLst>
              <a:gd name="adj" fmla="val 19231"/>
            </a:avLst>
          </a:prstGeom>
          <a:solidFill>
            <a:srgbClr val="FF8C00"/>
          </a:solidFill>
          <a:ln w="12700">
            <a:solidFill>
              <a:srgbClr val="FF8C00"/>
            </a:solidFill>
            <a:prstDash val="solid"/>
          </a:ln>
        </p:spPr>
        <p:txBody>
          <a:bodyPr/>
          <a:lstStyle/>
          <a:p>
            <a:endParaRPr lang="en-US"/>
          </a:p>
        </p:txBody>
      </p:sp>
      <p:sp>
        <p:nvSpPr>
          <p:cNvPr id="58" name="Text 56"/>
          <p:cNvSpPr/>
          <p:nvPr/>
        </p:nvSpPr>
        <p:spPr>
          <a:xfrm>
            <a:off x="9326880" y="504748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HIGH</a:t>
            </a:r>
            <a:endParaRPr lang="en-US" sz="900" dirty="0"/>
          </a:p>
        </p:txBody>
      </p:sp>
      <p:sp>
        <p:nvSpPr>
          <p:cNvPr id="59" name="Shape 57"/>
          <p:cNvSpPr/>
          <p:nvPr/>
        </p:nvSpPr>
        <p:spPr>
          <a:xfrm>
            <a:off x="640080" y="5349240"/>
            <a:ext cx="10881360" cy="365760"/>
          </a:xfrm>
          <a:prstGeom prst="rect">
            <a:avLst/>
          </a:prstGeom>
          <a:solidFill>
            <a:srgbClr val="FFFFFF"/>
          </a:solidFill>
          <a:ln w="6350">
            <a:solidFill>
              <a:srgbClr val="D9D2C2"/>
            </a:solidFill>
            <a:prstDash val="solid"/>
          </a:ln>
        </p:spPr>
        <p:txBody>
          <a:bodyPr/>
          <a:lstStyle/>
          <a:p>
            <a:endParaRPr lang="en-US"/>
          </a:p>
        </p:txBody>
      </p:sp>
      <p:sp>
        <p:nvSpPr>
          <p:cNvPr id="60" name="Text 58"/>
          <p:cNvSpPr/>
          <p:nvPr/>
        </p:nvSpPr>
        <p:spPr>
          <a:xfrm>
            <a:off x="822960" y="5349240"/>
            <a:ext cx="4754880" cy="36576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Reconciling delivered work to a milestone</a:t>
            </a:r>
            <a:endParaRPr lang="en-US" sz="1200" dirty="0"/>
          </a:p>
        </p:txBody>
      </p:sp>
      <p:sp>
        <p:nvSpPr>
          <p:cNvPr id="61" name="Shape 59"/>
          <p:cNvSpPr/>
          <p:nvPr/>
        </p:nvSpPr>
        <p:spPr>
          <a:xfrm>
            <a:off x="6400800" y="5413248"/>
            <a:ext cx="1463040" cy="237744"/>
          </a:xfrm>
          <a:prstGeom prst="roundRect">
            <a:avLst>
              <a:gd name="adj" fmla="val 19231"/>
            </a:avLst>
          </a:prstGeom>
          <a:solidFill>
            <a:srgbClr val="C0392B"/>
          </a:solidFill>
          <a:ln w="12700">
            <a:solidFill>
              <a:srgbClr val="C0392B"/>
            </a:solidFill>
            <a:prstDash val="solid"/>
          </a:ln>
        </p:spPr>
        <p:txBody>
          <a:bodyPr/>
          <a:lstStyle/>
          <a:p>
            <a:endParaRPr lang="en-US"/>
          </a:p>
        </p:txBody>
      </p:sp>
      <p:sp>
        <p:nvSpPr>
          <p:cNvPr id="62" name="Text 60"/>
          <p:cNvSpPr/>
          <p:nvPr/>
        </p:nvSpPr>
        <p:spPr>
          <a:xfrm>
            <a:off x="6400800" y="541324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CRITICAL</a:t>
            </a:r>
            <a:endParaRPr lang="en-US" sz="900" dirty="0"/>
          </a:p>
        </p:txBody>
      </p:sp>
      <p:sp>
        <p:nvSpPr>
          <p:cNvPr id="63" name="Shape 61"/>
          <p:cNvSpPr/>
          <p:nvPr/>
        </p:nvSpPr>
        <p:spPr>
          <a:xfrm>
            <a:off x="9326880" y="5413248"/>
            <a:ext cx="1463040" cy="237744"/>
          </a:xfrm>
          <a:prstGeom prst="roundRect">
            <a:avLst>
              <a:gd name="adj" fmla="val 19231"/>
            </a:avLst>
          </a:prstGeom>
          <a:solidFill>
            <a:srgbClr val="FF8C00"/>
          </a:solidFill>
          <a:ln w="12700">
            <a:solidFill>
              <a:srgbClr val="FF8C00"/>
            </a:solidFill>
            <a:prstDash val="solid"/>
          </a:ln>
        </p:spPr>
        <p:txBody>
          <a:bodyPr/>
          <a:lstStyle/>
          <a:p>
            <a:endParaRPr lang="en-US"/>
          </a:p>
        </p:txBody>
      </p:sp>
      <p:sp>
        <p:nvSpPr>
          <p:cNvPr id="64" name="Text 62"/>
          <p:cNvSpPr/>
          <p:nvPr/>
        </p:nvSpPr>
        <p:spPr>
          <a:xfrm>
            <a:off x="9326880" y="541324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HIGH</a:t>
            </a:r>
            <a:endParaRPr lang="en-US" sz="900" dirty="0"/>
          </a:p>
        </p:txBody>
      </p:sp>
      <p:sp>
        <p:nvSpPr>
          <p:cNvPr id="65" name="Shape 63"/>
          <p:cNvSpPr/>
          <p:nvPr/>
        </p:nvSpPr>
        <p:spPr>
          <a:xfrm>
            <a:off x="640080" y="5715000"/>
            <a:ext cx="10881360" cy="365760"/>
          </a:xfrm>
          <a:prstGeom prst="rect">
            <a:avLst/>
          </a:prstGeom>
          <a:solidFill>
            <a:srgbClr val="EFE9DD"/>
          </a:solidFill>
          <a:ln w="6350">
            <a:solidFill>
              <a:srgbClr val="D9D2C2"/>
            </a:solidFill>
            <a:prstDash val="solid"/>
          </a:ln>
        </p:spPr>
        <p:txBody>
          <a:bodyPr/>
          <a:lstStyle/>
          <a:p>
            <a:endParaRPr lang="en-US"/>
          </a:p>
        </p:txBody>
      </p:sp>
      <p:sp>
        <p:nvSpPr>
          <p:cNvPr id="66" name="Text 64"/>
          <p:cNvSpPr/>
          <p:nvPr/>
        </p:nvSpPr>
        <p:spPr>
          <a:xfrm>
            <a:off x="822960" y="5715000"/>
            <a:ext cx="4754880" cy="36576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Reporting up to stakeholders</a:t>
            </a:r>
            <a:endParaRPr lang="en-US" sz="1200" dirty="0"/>
          </a:p>
        </p:txBody>
      </p:sp>
      <p:sp>
        <p:nvSpPr>
          <p:cNvPr id="67" name="Shape 65"/>
          <p:cNvSpPr/>
          <p:nvPr/>
        </p:nvSpPr>
        <p:spPr>
          <a:xfrm>
            <a:off x="6400800" y="5779008"/>
            <a:ext cx="1463040" cy="237744"/>
          </a:xfrm>
          <a:prstGeom prst="roundRect">
            <a:avLst>
              <a:gd name="adj" fmla="val 19231"/>
            </a:avLst>
          </a:prstGeom>
          <a:solidFill>
            <a:srgbClr val="9AA39A"/>
          </a:solidFill>
          <a:ln w="12700">
            <a:solidFill>
              <a:srgbClr val="9AA39A"/>
            </a:solidFill>
            <a:prstDash val="solid"/>
          </a:ln>
        </p:spPr>
        <p:txBody>
          <a:bodyPr/>
          <a:lstStyle/>
          <a:p>
            <a:endParaRPr lang="en-US"/>
          </a:p>
        </p:txBody>
      </p:sp>
      <p:sp>
        <p:nvSpPr>
          <p:cNvPr id="68" name="Text 66"/>
          <p:cNvSpPr/>
          <p:nvPr/>
        </p:nvSpPr>
        <p:spPr>
          <a:xfrm>
            <a:off x="6400800" y="577900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LOW</a:t>
            </a:r>
            <a:endParaRPr lang="en-US" sz="900" dirty="0"/>
          </a:p>
        </p:txBody>
      </p:sp>
      <p:sp>
        <p:nvSpPr>
          <p:cNvPr id="69" name="Shape 67"/>
          <p:cNvSpPr/>
          <p:nvPr/>
        </p:nvSpPr>
        <p:spPr>
          <a:xfrm>
            <a:off x="9326880" y="5779008"/>
            <a:ext cx="1463040" cy="237744"/>
          </a:xfrm>
          <a:prstGeom prst="roundRect">
            <a:avLst>
              <a:gd name="adj" fmla="val 19231"/>
            </a:avLst>
          </a:prstGeom>
          <a:solidFill>
            <a:srgbClr val="C0392B"/>
          </a:solidFill>
          <a:ln w="12700">
            <a:solidFill>
              <a:srgbClr val="C0392B"/>
            </a:solidFill>
            <a:prstDash val="solid"/>
          </a:ln>
        </p:spPr>
        <p:txBody>
          <a:bodyPr/>
          <a:lstStyle/>
          <a:p>
            <a:endParaRPr lang="en-US"/>
          </a:p>
        </p:txBody>
      </p:sp>
      <p:sp>
        <p:nvSpPr>
          <p:cNvPr id="70" name="Text 68"/>
          <p:cNvSpPr/>
          <p:nvPr/>
        </p:nvSpPr>
        <p:spPr>
          <a:xfrm>
            <a:off x="9326880" y="5779008"/>
            <a:ext cx="1463040" cy="237744"/>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CRITICAL</a:t>
            </a:r>
            <a:endParaRPr lang="en-US" sz="900" dirty="0"/>
          </a:p>
        </p:txBody>
      </p:sp>
      <p:sp>
        <p:nvSpPr>
          <p:cNvPr id="71" name="Text 69"/>
          <p:cNvSpPr/>
          <p:nvPr/>
        </p:nvSpPr>
        <p:spPr>
          <a:xfrm>
            <a:off x="640080" y="6309360"/>
            <a:ext cx="1097280" cy="274320"/>
          </a:xfrm>
          <a:prstGeom prst="rect">
            <a:avLst/>
          </a:prstGeom>
          <a:noFill/>
          <a:ln/>
        </p:spPr>
        <p:txBody>
          <a:bodyPr wrap="square" lIns="0" tIns="0" rIns="0" bIns="0" rtlCol="0" anchor="ctr"/>
          <a:lstStyle/>
          <a:p>
            <a:pPr marL="0" indent="0">
              <a:buNone/>
            </a:pPr>
            <a:r>
              <a:rPr lang="en-US" sz="900" b="1" kern="0" spc="400" dirty="0">
                <a:solidFill>
                  <a:srgbClr val="142338"/>
                </a:solidFill>
                <a:latin typeface="Calibri" pitchFamily="34" charset="0"/>
                <a:ea typeface="Calibri" pitchFamily="34" charset="-122"/>
                <a:cs typeface="Calibri" pitchFamily="34" charset="-120"/>
              </a:rPr>
              <a:t>SEVERITY</a:t>
            </a:r>
            <a:endParaRPr lang="en-US" sz="900" dirty="0"/>
          </a:p>
        </p:txBody>
      </p:sp>
      <p:sp>
        <p:nvSpPr>
          <p:cNvPr id="72" name="Shape 70"/>
          <p:cNvSpPr/>
          <p:nvPr/>
        </p:nvSpPr>
        <p:spPr>
          <a:xfrm>
            <a:off x="1645920" y="6364224"/>
            <a:ext cx="164592" cy="164592"/>
          </a:xfrm>
          <a:prstGeom prst="ellipse">
            <a:avLst/>
          </a:prstGeom>
          <a:solidFill>
            <a:srgbClr val="C0392B"/>
          </a:solidFill>
          <a:ln w="12700">
            <a:solidFill>
              <a:srgbClr val="C0392B"/>
            </a:solidFill>
            <a:prstDash val="solid"/>
          </a:ln>
        </p:spPr>
        <p:txBody>
          <a:bodyPr/>
          <a:lstStyle/>
          <a:p>
            <a:endParaRPr lang="en-US"/>
          </a:p>
        </p:txBody>
      </p:sp>
      <p:sp>
        <p:nvSpPr>
          <p:cNvPr id="73" name="Text 71"/>
          <p:cNvSpPr/>
          <p:nvPr/>
        </p:nvSpPr>
        <p:spPr>
          <a:xfrm>
            <a:off x="1874520" y="6309360"/>
            <a:ext cx="822960" cy="274320"/>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CRITICAL</a:t>
            </a:r>
            <a:endParaRPr lang="en-US" sz="900" dirty="0"/>
          </a:p>
        </p:txBody>
      </p:sp>
      <p:sp>
        <p:nvSpPr>
          <p:cNvPr id="74" name="Shape 72"/>
          <p:cNvSpPr/>
          <p:nvPr/>
        </p:nvSpPr>
        <p:spPr>
          <a:xfrm>
            <a:off x="2743200" y="6364224"/>
            <a:ext cx="164592" cy="164592"/>
          </a:xfrm>
          <a:prstGeom prst="ellipse">
            <a:avLst/>
          </a:prstGeom>
          <a:solidFill>
            <a:srgbClr val="FF8C00"/>
          </a:solidFill>
          <a:ln w="12700">
            <a:solidFill>
              <a:srgbClr val="FF8C00"/>
            </a:solidFill>
            <a:prstDash val="solid"/>
          </a:ln>
        </p:spPr>
        <p:txBody>
          <a:bodyPr/>
          <a:lstStyle/>
          <a:p>
            <a:endParaRPr lang="en-US"/>
          </a:p>
        </p:txBody>
      </p:sp>
      <p:sp>
        <p:nvSpPr>
          <p:cNvPr id="75" name="Text 73"/>
          <p:cNvSpPr/>
          <p:nvPr/>
        </p:nvSpPr>
        <p:spPr>
          <a:xfrm>
            <a:off x="2971800" y="6309360"/>
            <a:ext cx="822960" cy="274320"/>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HIGH</a:t>
            </a:r>
            <a:endParaRPr lang="en-US" sz="900" dirty="0"/>
          </a:p>
        </p:txBody>
      </p:sp>
      <p:sp>
        <p:nvSpPr>
          <p:cNvPr id="76" name="Shape 74"/>
          <p:cNvSpPr/>
          <p:nvPr/>
        </p:nvSpPr>
        <p:spPr>
          <a:xfrm>
            <a:off x="3840480" y="6364224"/>
            <a:ext cx="164592" cy="164592"/>
          </a:xfrm>
          <a:prstGeom prst="ellipse">
            <a:avLst/>
          </a:prstGeom>
          <a:solidFill>
            <a:srgbClr val="B89B5E"/>
          </a:solidFill>
          <a:ln w="12700">
            <a:solidFill>
              <a:srgbClr val="B89B5E"/>
            </a:solidFill>
            <a:prstDash val="solid"/>
          </a:ln>
        </p:spPr>
        <p:txBody>
          <a:bodyPr/>
          <a:lstStyle/>
          <a:p>
            <a:endParaRPr lang="en-US"/>
          </a:p>
        </p:txBody>
      </p:sp>
      <p:sp>
        <p:nvSpPr>
          <p:cNvPr id="77" name="Text 75"/>
          <p:cNvSpPr/>
          <p:nvPr/>
        </p:nvSpPr>
        <p:spPr>
          <a:xfrm>
            <a:off x="4069080" y="6309360"/>
            <a:ext cx="822960" cy="274320"/>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MED</a:t>
            </a:r>
            <a:endParaRPr lang="en-US" sz="900" dirty="0"/>
          </a:p>
        </p:txBody>
      </p:sp>
      <p:sp>
        <p:nvSpPr>
          <p:cNvPr id="78" name="Shape 76"/>
          <p:cNvSpPr/>
          <p:nvPr/>
        </p:nvSpPr>
        <p:spPr>
          <a:xfrm>
            <a:off x="4937760" y="6364224"/>
            <a:ext cx="164592" cy="164592"/>
          </a:xfrm>
          <a:prstGeom prst="ellipse">
            <a:avLst/>
          </a:prstGeom>
          <a:solidFill>
            <a:srgbClr val="9AA39A"/>
          </a:solidFill>
          <a:ln w="12700">
            <a:solidFill>
              <a:srgbClr val="9AA39A"/>
            </a:solidFill>
            <a:prstDash val="solid"/>
          </a:ln>
        </p:spPr>
        <p:txBody>
          <a:bodyPr/>
          <a:lstStyle/>
          <a:p>
            <a:endParaRPr lang="en-US"/>
          </a:p>
        </p:txBody>
      </p:sp>
      <p:sp>
        <p:nvSpPr>
          <p:cNvPr id="79" name="Text 77"/>
          <p:cNvSpPr/>
          <p:nvPr/>
        </p:nvSpPr>
        <p:spPr>
          <a:xfrm>
            <a:off x="5166360" y="6309360"/>
            <a:ext cx="822960" cy="274320"/>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LOW</a:t>
            </a:r>
            <a:endParaRPr lang="en-US" sz="900" dirty="0"/>
          </a:p>
        </p:txBody>
      </p:sp>
      <p:sp>
        <p:nvSpPr>
          <p:cNvPr id="80" name="Shape 78"/>
          <p:cNvSpPr/>
          <p:nvPr/>
        </p:nvSpPr>
        <p:spPr>
          <a:xfrm>
            <a:off x="6035040" y="6364224"/>
            <a:ext cx="164592" cy="164592"/>
          </a:xfrm>
          <a:prstGeom prst="ellipse">
            <a:avLst/>
          </a:prstGeom>
          <a:solidFill>
            <a:srgbClr val="DADADA"/>
          </a:solidFill>
          <a:ln w="12700">
            <a:solidFill>
              <a:srgbClr val="DADADA"/>
            </a:solidFill>
            <a:prstDash val="solid"/>
          </a:ln>
        </p:spPr>
        <p:txBody>
          <a:bodyPr/>
          <a:lstStyle/>
          <a:p>
            <a:endParaRPr lang="en-US"/>
          </a:p>
        </p:txBody>
      </p:sp>
      <p:sp>
        <p:nvSpPr>
          <p:cNvPr id="81" name="Text 79"/>
          <p:cNvSpPr/>
          <p:nvPr/>
        </p:nvSpPr>
        <p:spPr>
          <a:xfrm>
            <a:off x="6263640" y="6309360"/>
            <a:ext cx="822960" cy="274320"/>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N/A</a:t>
            </a:r>
            <a:endParaRPr lang="en-US" sz="900" dirty="0"/>
          </a:p>
        </p:txBody>
      </p:sp>
      <p:sp>
        <p:nvSpPr>
          <p:cNvPr id="82" name="Text 80"/>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1000" b="1" dirty="0">
                <a:solidFill>
                  <a:srgbClr val="6B6B6B"/>
                </a:solidFill>
                <a:latin typeface="Calibri" pitchFamily="34" charset="0"/>
                <a:ea typeface="Calibri" pitchFamily="34" charset="-122"/>
                <a:cs typeface="Calibri" pitchFamily="34" charset="-120"/>
              </a:rPr>
              <a:t>6 / 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883</Words>
  <Application>Microsoft Macintosh PowerPoint</Application>
  <PresentationFormat>Widescreen</PresentationFormat>
  <Paragraphs>147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IterateIQ — UX Persona Research</dc:title>
  <dc:subject>PptxGenJS Presentation</dc:subject>
  <dc:creator>H9 Partners</dc:creator>
  <cp:lastModifiedBy>Jacob Hernandez</cp:lastModifiedBy>
  <cp:revision>2</cp:revision>
  <dcterms:created xsi:type="dcterms:W3CDTF">2026-05-06T13:52:55Z</dcterms:created>
  <dcterms:modified xsi:type="dcterms:W3CDTF">2026-05-06T15:13:11Z</dcterms:modified>
</cp:coreProperties>
</file>